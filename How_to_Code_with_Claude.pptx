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324" r:id="rId2"/>
    <p:sldId id="332" r:id="rId3"/>
    <p:sldId id="347" r:id="rId4"/>
    <p:sldId id="284" r:id="rId5"/>
    <p:sldId id="384" r:id="rId6"/>
    <p:sldId id="334" r:id="rId7"/>
    <p:sldId id="378" r:id="rId8"/>
    <p:sldId id="382" r:id="rId9"/>
    <p:sldId id="309" r:id="rId10"/>
    <p:sldId id="310" r:id="rId11"/>
    <p:sldId id="343" r:id="rId12"/>
    <p:sldId id="311" r:id="rId13"/>
    <p:sldId id="329" r:id="rId14"/>
    <p:sldId id="367" r:id="rId15"/>
    <p:sldId id="312" r:id="rId16"/>
    <p:sldId id="308" r:id="rId17"/>
    <p:sldId id="297" r:id="rId18"/>
    <p:sldId id="380" r:id="rId19"/>
    <p:sldId id="316" r:id="rId20"/>
    <p:sldId id="331" r:id="rId21"/>
    <p:sldId id="321" r:id="rId22"/>
    <p:sldId id="359" r:id="rId23"/>
    <p:sldId id="322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AB"/>
    <a:srgbClr val="1B1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5F6FB-ABB4-074D-837C-159E43D2A6D0}" v="8" dt="2026-09-23T19:45:50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3"/>
    <p:restoredTop sz="94630"/>
  </p:normalViewPr>
  <p:slideViewPr>
    <p:cSldViewPr snapToGrid="0">
      <p:cViewPr varScale="1">
        <p:scale>
          <a:sx n="100" d="100"/>
          <a:sy n="100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林　泰良" userId="db2aa334-7078-47cd-861a-e0966d7f019c" providerId="ADAL" clId="{0C9C2C0F-B3BC-549E-BE1A-E8C2DFCE6479}"/>
    <pc:docChg chg="undo custSel addSld delSld modSld sldOrd modMainMaster">
      <pc:chgData name="小林　泰良" userId="db2aa334-7078-47cd-861a-e0966d7f019c" providerId="ADAL" clId="{0C9C2C0F-B3BC-549E-BE1A-E8C2DFCE6479}" dt="2026-09-23T19:46:38.165" v="1656" actId="20577"/>
      <pc:docMkLst>
        <pc:docMk/>
      </pc:docMkLst>
      <pc:sldChg chg="add">
        <pc:chgData name="小林　泰良" userId="db2aa334-7078-47cd-861a-e0966d7f019c" providerId="ADAL" clId="{0C9C2C0F-B3BC-549E-BE1A-E8C2DFCE6479}" dt="2026-09-17T05:19:31.784" v="101"/>
        <pc:sldMkLst>
          <pc:docMk/>
          <pc:sldMk cId="2424551721" sldId="284"/>
        </pc:sldMkLst>
      </pc:sldChg>
      <pc:sldChg chg="modSp add mod">
        <pc:chgData name="小林　泰良" userId="db2aa334-7078-47cd-861a-e0966d7f019c" providerId="ADAL" clId="{0C9C2C0F-B3BC-549E-BE1A-E8C2DFCE6479}" dt="2026-09-17T05:27:00.005" v="150" actId="27636"/>
        <pc:sldMkLst>
          <pc:docMk/>
          <pc:sldMk cId="1402253041" sldId="297"/>
        </pc:sldMkLst>
        <pc:spChg chg="mod">
          <ac:chgData name="小林　泰良" userId="db2aa334-7078-47cd-861a-e0966d7f019c" providerId="ADAL" clId="{0C9C2C0F-B3BC-549E-BE1A-E8C2DFCE6479}" dt="2026-09-17T05:27:00.005" v="150" actId="27636"/>
          <ac:spMkLst>
            <pc:docMk/>
            <pc:sldMk cId="1402253041" sldId="297"/>
            <ac:spMk id="101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23T19:20:12.826" v="1241" actId="20577"/>
        <pc:sldMkLst>
          <pc:docMk/>
          <pc:sldMk cId="581278982" sldId="308"/>
        </pc:sldMkLst>
        <pc:spChg chg="mod">
          <ac:chgData name="小林　泰良" userId="db2aa334-7078-47cd-861a-e0966d7f019c" providerId="ADAL" clId="{0C9C2C0F-B3BC-549E-BE1A-E8C2DFCE6479}" dt="2026-09-23T19:18:49.177" v="1133" actId="20577"/>
          <ac:spMkLst>
            <pc:docMk/>
            <pc:sldMk cId="581278982" sldId="308"/>
            <ac:spMk id="3" creationId="{DE0D3849-078A-C5A7-C237-FEE32CFF6642}"/>
          </ac:spMkLst>
        </pc:spChg>
        <pc:spChg chg="mod">
          <ac:chgData name="小林　泰良" userId="db2aa334-7078-47cd-861a-e0966d7f019c" providerId="ADAL" clId="{0C9C2C0F-B3BC-549E-BE1A-E8C2DFCE6479}" dt="2026-09-17T05:32:55.836" v="205" actId="27636"/>
          <ac:spMkLst>
            <pc:docMk/>
            <pc:sldMk cId="581278982" sldId="308"/>
            <ac:spMk id="7" creationId="{0D54A084-BFF4-5C61-F0C3-AAFCDBE88B03}"/>
          </ac:spMkLst>
        </pc:spChg>
        <pc:spChg chg="mod">
          <ac:chgData name="小林　泰良" userId="db2aa334-7078-47cd-861a-e0966d7f019c" providerId="ADAL" clId="{0C9C2C0F-B3BC-549E-BE1A-E8C2DFCE6479}" dt="2026-09-23T19:20:12.826" v="1241" actId="20577"/>
          <ac:spMkLst>
            <pc:docMk/>
            <pc:sldMk cId="581278982" sldId="308"/>
            <ac:spMk id="102" creationId="{00000000-0000-0000-0000-000000000000}"/>
          </ac:spMkLst>
        </pc:spChg>
      </pc:sldChg>
      <pc:sldChg chg="add">
        <pc:chgData name="小林　泰良" userId="db2aa334-7078-47cd-861a-e0966d7f019c" providerId="ADAL" clId="{0C9C2C0F-B3BC-549E-BE1A-E8C2DFCE6479}" dt="2026-09-17T05:34:33.024" v="206"/>
        <pc:sldMkLst>
          <pc:docMk/>
          <pc:sldMk cId="2295975476" sldId="309"/>
        </pc:sldMkLst>
      </pc:sldChg>
      <pc:sldChg chg="modSp add mod">
        <pc:chgData name="小林　泰良" userId="db2aa334-7078-47cd-861a-e0966d7f019c" providerId="ADAL" clId="{0C9C2C0F-B3BC-549E-BE1A-E8C2DFCE6479}" dt="2026-09-17T05:34:36.303" v="219"/>
        <pc:sldMkLst>
          <pc:docMk/>
          <pc:sldMk cId="3597242225" sldId="310"/>
        </pc:sldMkLst>
        <pc:graphicFrameChg chg="modGraphic">
          <ac:chgData name="小林　泰良" userId="db2aa334-7078-47cd-861a-e0966d7f019c" providerId="ADAL" clId="{0C9C2C0F-B3BC-549E-BE1A-E8C2DFCE6479}" dt="2026-09-17T05:34:36.303" v="219"/>
          <ac:graphicFrameMkLst>
            <pc:docMk/>
            <pc:sldMk cId="3597242225" sldId="310"/>
            <ac:graphicFrameMk id="200" creationId="{00000000-0000-0000-0000-000000000000}"/>
          </ac:graphicFrameMkLst>
        </pc:graphicFrameChg>
      </pc:sldChg>
      <pc:sldChg chg="modSp add mod">
        <pc:chgData name="小林　泰良" userId="db2aa334-7078-47cd-861a-e0966d7f019c" providerId="ADAL" clId="{0C9C2C0F-B3BC-549E-BE1A-E8C2DFCE6479}" dt="2026-09-23T19:03:24.225" v="878" actId="20577"/>
        <pc:sldMkLst>
          <pc:docMk/>
          <pc:sldMk cId="2129746524" sldId="311"/>
        </pc:sldMkLst>
        <pc:spChg chg="mod">
          <ac:chgData name="小林　泰良" userId="db2aa334-7078-47cd-861a-e0966d7f019c" providerId="ADAL" clId="{0C9C2C0F-B3BC-549E-BE1A-E8C2DFCE6479}" dt="2026-09-17T05:34:42.850" v="222" actId="27636"/>
          <ac:spMkLst>
            <pc:docMk/>
            <pc:sldMk cId="2129746524" sldId="311"/>
            <ac:spMk id="101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03:24.225" v="878" actId="20577"/>
          <ac:spMkLst>
            <pc:docMk/>
            <pc:sldMk cId="2129746524" sldId="311"/>
            <ac:spMk id="102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17T05:36:20.562" v="225" actId="27636"/>
        <pc:sldMkLst>
          <pc:docMk/>
          <pc:sldMk cId="3330822849" sldId="312"/>
        </pc:sldMkLst>
        <pc:spChg chg="mod">
          <ac:chgData name="小林　泰良" userId="db2aa334-7078-47cd-861a-e0966d7f019c" providerId="ADAL" clId="{0C9C2C0F-B3BC-549E-BE1A-E8C2DFCE6479}" dt="2026-09-17T05:36:20.562" v="225" actId="27636"/>
          <ac:spMkLst>
            <pc:docMk/>
            <pc:sldMk cId="3330822849" sldId="312"/>
            <ac:spMk id="100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23T19:43:20.504" v="1564" actId="20577"/>
        <pc:sldMkLst>
          <pc:docMk/>
          <pc:sldMk cId="88446204" sldId="316"/>
        </pc:sldMkLst>
        <pc:spChg chg="mod">
          <ac:chgData name="小林　泰良" userId="db2aa334-7078-47cd-861a-e0966d7f019c" providerId="ADAL" clId="{0C9C2C0F-B3BC-549E-BE1A-E8C2DFCE6479}" dt="2026-09-17T05:38:42.858" v="236" actId="27636"/>
          <ac:spMkLst>
            <pc:docMk/>
            <pc:sldMk cId="88446204" sldId="316"/>
            <ac:spMk id="105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3:20.504" v="1564" actId="20577"/>
          <ac:spMkLst>
            <pc:docMk/>
            <pc:sldMk cId="88446204" sldId="316"/>
            <ac:spMk id="106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17T05:41:30.801" v="263" actId="27636"/>
        <pc:sldMkLst>
          <pc:docMk/>
          <pc:sldMk cId="2269475570" sldId="321"/>
        </pc:sldMkLst>
        <pc:spChg chg="mod">
          <ac:chgData name="小林　泰良" userId="db2aa334-7078-47cd-861a-e0966d7f019c" providerId="ADAL" clId="{0C9C2C0F-B3BC-549E-BE1A-E8C2DFCE6479}" dt="2026-09-17T05:41:30.799" v="261" actId="27636"/>
          <ac:spMkLst>
            <pc:docMk/>
            <pc:sldMk cId="2269475570" sldId="321"/>
            <ac:spMk id="100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17T05:41:30.801" v="263" actId="27636"/>
          <ac:spMkLst>
            <pc:docMk/>
            <pc:sldMk cId="2269475570" sldId="321"/>
            <ac:spMk id="101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17T05:41:30.800" v="262" actId="27636"/>
          <ac:spMkLst>
            <pc:docMk/>
            <pc:sldMk cId="2269475570" sldId="321"/>
            <ac:spMk id="103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17T05:41:30.798" v="260" actId="27636"/>
          <ac:spMkLst>
            <pc:docMk/>
            <pc:sldMk cId="2269475570" sldId="321"/>
            <ac:spMk id="106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17T05:41:35.597" v="266" actId="27636"/>
        <pc:sldMkLst>
          <pc:docMk/>
          <pc:sldMk cId="2778313422" sldId="322"/>
        </pc:sldMkLst>
        <pc:spChg chg="mod">
          <ac:chgData name="小林　泰良" userId="db2aa334-7078-47cd-861a-e0966d7f019c" providerId="ADAL" clId="{0C9C2C0F-B3BC-549E-BE1A-E8C2DFCE6479}" dt="2026-09-17T05:41:35.597" v="266" actId="27636"/>
          <ac:spMkLst>
            <pc:docMk/>
            <pc:sldMk cId="2778313422" sldId="322"/>
            <ac:spMk id="103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17T06:14:41.028" v="303" actId="14100"/>
        <pc:sldMkLst>
          <pc:docMk/>
          <pc:sldMk cId="4233238744" sldId="324"/>
        </pc:sldMkLst>
        <pc:spChg chg="mod">
          <ac:chgData name="小林　泰良" userId="db2aa334-7078-47cd-861a-e0966d7f019c" providerId="ADAL" clId="{0C9C2C0F-B3BC-549E-BE1A-E8C2DFCE6479}" dt="2026-09-17T06:14:41.028" v="303" actId="14100"/>
          <ac:spMkLst>
            <pc:docMk/>
            <pc:sldMk cId="4233238744" sldId="324"/>
            <ac:spMk id="3" creationId="{F33066C0-F271-21A0-9611-5F095D22CCD7}"/>
          </ac:spMkLst>
        </pc:spChg>
      </pc:sldChg>
      <pc:sldChg chg="add del">
        <pc:chgData name="小林　泰良" userId="db2aa334-7078-47cd-861a-e0966d7f019c" providerId="ADAL" clId="{0C9C2C0F-B3BC-549E-BE1A-E8C2DFCE6479}" dt="2026-09-23T18:37:43.096" v="481"/>
        <pc:sldMkLst>
          <pc:docMk/>
          <pc:sldMk cId="3594090924" sldId="328"/>
        </pc:sldMkLst>
      </pc:sldChg>
      <pc:sldChg chg="modSp add mod">
        <pc:chgData name="小林　泰良" userId="db2aa334-7078-47cd-861a-e0966d7f019c" providerId="ADAL" clId="{0C9C2C0F-B3BC-549E-BE1A-E8C2DFCE6479}" dt="2026-09-23T19:14:33.641" v="880" actId="113"/>
        <pc:sldMkLst>
          <pc:docMk/>
          <pc:sldMk cId="3248917027" sldId="329"/>
        </pc:sldMkLst>
        <pc:spChg chg="mod">
          <ac:chgData name="小林　泰良" userId="db2aa334-7078-47cd-861a-e0966d7f019c" providerId="ADAL" clId="{0C9C2C0F-B3BC-549E-BE1A-E8C2DFCE6479}" dt="2026-09-23T19:14:33.641" v="880" actId="113"/>
          <ac:spMkLst>
            <pc:docMk/>
            <pc:sldMk cId="3248917027" sldId="329"/>
            <ac:spMk id="114" creationId="{00000000-0000-0000-0000-000000000000}"/>
          </ac:spMkLst>
        </pc:spChg>
      </pc:sldChg>
      <pc:sldChg chg="add del">
        <pc:chgData name="小林　泰良" userId="db2aa334-7078-47cd-861a-e0966d7f019c" providerId="ADAL" clId="{0C9C2C0F-B3BC-549E-BE1A-E8C2DFCE6479}" dt="2026-09-23T18:37:45.099" v="483"/>
        <pc:sldMkLst>
          <pc:docMk/>
          <pc:sldMk cId="3438976966" sldId="330"/>
        </pc:sldMkLst>
      </pc:sldChg>
      <pc:sldChg chg="delSp modSp add mod">
        <pc:chgData name="小林　泰良" userId="db2aa334-7078-47cd-861a-e0966d7f019c" providerId="ADAL" clId="{0C9C2C0F-B3BC-549E-BE1A-E8C2DFCE6479}" dt="2026-09-23T19:46:38.165" v="1656" actId="20577"/>
        <pc:sldMkLst>
          <pc:docMk/>
          <pc:sldMk cId="3226046415" sldId="331"/>
        </pc:sldMkLst>
        <pc:spChg chg="mod">
          <ac:chgData name="小林　泰良" userId="db2aa334-7078-47cd-861a-e0966d7f019c" providerId="ADAL" clId="{0C9C2C0F-B3BC-549E-BE1A-E8C2DFCE6479}" dt="2026-09-23T19:46:06.487" v="1643" actId="20577"/>
          <ac:spMkLst>
            <pc:docMk/>
            <pc:sldMk cId="3226046415" sldId="331"/>
            <ac:spMk id="102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5:49.337" v="1635" actId="27636"/>
          <ac:spMkLst>
            <pc:docMk/>
            <pc:sldMk cId="3226046415" sldId="331"/>
            <ac:spMk id="104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5:59.781" v="1641" actId="21"/>
          <ac:spMkLst>
            <pc:docMk/>
            <pc:sldMk cId="3226046415" sldId="331"/>
            <ac:spMk id="105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5:50.742" v="1636"/>
          <ac:spMkLst>
            <pc:docMk/>
            <pc:sldMk cId="3226046415" sldId="331"/>
            <ac:spMk id="107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6:02.787" v="1642"/>
          <ac:spMkLst>
            <pc:docMk/>
            <pc:sldMk cId="3226046415" sldId="331"/>
            <ac:spMk id="108" creationId="{00000000-0000-0000-0000-000000000000}"/>
          </ac:spMkLst>
        </pc:spChg>
        <pc:spChg chg="del">
          <ac:chgData name="小林　泰良" userId="db2aa334-7078-47cd-861a-e0966d7f019c" providerId="ADAL" clId="{0C9C2C0F-B3BC-549E-BE1A-E8C2DFCE6479}" dt="2026-09-23T19:46:19.411" v="1644" actId="478"/>
          <ac:spMkLst>
            <pc:docMk/>
            <pc:sldMk cId="3226046415" sldId="331"/>
            <ac:spMk id="109" creationId="{00000000-0000-0000-0000-000000000000}"/>
          </ac:spMkLst>
        </pc:spChg>
        <pc:spChg chg="del">
          <ac:chgData name="小林　泰良" userId="db2aa334-7078-47cd-861a-e0966d7f019c" providerId="ADAL" clId="{0C9C2C0F-B3BC-549E-BE1A-E8C2DFCE6479}" dt="2026-09-23T19:46:21.607" v="1645" actId="478"/>
          <ac:spMkLst>
            <pc:docMk/>
            <pc:sldMk cId="3226046415" sldId="331"/>
            <ac:spMk id="110" creationId="{00000000-0000-0000-0000-000000000000}"/>
          </ac:spMkLst>
        </pc:spChg>
        <pc:spChg chg="del">
          <ac:chgData name="小林　泰良" userId="db2aa334-7078-47cd-861a-e0966d7f019c" providerId="ADAL" clId="{0C9C2C0F-B3BC-549E-BE1A-E8C2DFCE6479}" dt="2026-09-23T19:46:19.411" v="1644" actId="478"/>
          <ac:spMkLst>
            <pc:docMk/>
            <pc:sldMk cId="3226046415" sldId="331"/>
            <ac:spMk id="111" creationId="{00000000-0000-0000-0000-000000000000}"/>
          </ac:spMkLst>
        </pc:spChg>
        <pc:spChg chg="del mod">
          <ac:chgData name="小林　泰良" userId="db2aa334-7078-47cd-861a-e0966d7f019c" providerId="ADAL" clId="{0C9C2C0F-B3BC-549E-BE1A-E8C2DFCE6479}" dt="2026-09-23T19:46:31.672" v="1647" actId="478"/>
          <ac:spMkLst>
            <pc:docMk/>
            <pc:sldMk cId="3226046415" sldId="331"/>
            <ac:spMk id="112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46:38.165" v="1656" actId="20577"/>
          <ac:spMkLst>
            <pc:docMk/>
            <pc:sldMk cId="3226046415" sldId="331"/>
            <ac:spMk id="113" creationId="{00000000-0000-0000-0000-000000000000}"/>
          </ac:spMkLst>
        </pc:spChg>
      </pc:sldChg>
      <pc:sldChg chg="modSp add mod">
        <pc:chgData name="小林　泰良" userId="db2aa334-7078-47cd-861a-e0966d7f019c" providerId="ADAL" clId="{0C9C2C0F-B3BC-549E-BE1A-E8C2DFCE6479}" dt="2026-09-17T10:19:52.144" v="333" actId="27636"/>
        <pc:sldMkLst>
          <pc:docMk/>
          <pc:sldMk cId="1076253586" sldId="332"/>
        </pc:sldMkLst>
        <pc:spChg chg="mod">
          <ac:chgData name="小林　泰良" userId="db2aa334-7078-47cd-861a-e0966d7f019c" providerId="ADAL" clId="{0C9C2C0F-B3BC-549E-BE1A-E8C2DFCE6479}" dt="2026-09-17T10:19:52.144" v="333" actId="27636"/>
          <ac:spMkLst>
            <pc:docMk/>
            <pc:sldMk cId="1076253586" sldId="332"/>
            <ac:spMk id="7" creationId="{2E3642AF-512B-4301-285C-D143FCFA68D9}"/>
          </ac:spMkLst>
        </pc:spChg>
      </pc:sldChg>
      <pc:sldChg chg="modSp add mod">
        <pc:chgData name="小林　泰良" userId="db2aa334-7078-47cd-861a-e0966d7f019c" providerId="ADAL" clId="{0C9C2C0F-B3BC-549E-BE1A-E8C2DFCE6479}" dt="2026-09-17T10:21:08.983" v="349"/>
        <pc:sldMkLst>
          <pc:docMk/>
          <pc:sldMk cId="1657243994" sldId="334"/>
        </pc:sldMkLst>
        <pc:spChg chg="mod">
          <ac:chgData name="小林　泰良" userId="db2aa334-7078-47cd-861a-e0966d7f019c" providerId="ADAL" clId="{0C9C2C0F-B3BC-549E-BE1A-E8C2DFCE6479}" dt="2026-09-17T10:21:08.973" v="340" actId="27636"/>
          <ac:spMkLst>
            <pc:docMk/>
            <pc:sldMk cId="1657243994" sldId="334"/>
            <ac:spMk id="7" creationId="{D9F7B990-8D40-2678-9E28-16369D2555EC}"/>
          </ac:spMkLst>
        </pc:spChg>
        <pc:graphicFrameChg chg="modGraphic">
          <ac:chgData name="小林　泰良" userId="db2aa334-7078-47cd-861a-e0966d7f019c" providerId="ADAL" clId="{0C9C2C0F-B3BC-549E-BE1A-E8C2DFCE6479}" dt="2026-09-17T10:21:08.983" v="349"/>
          <ac:graphicFrameMkLst>
            <pc:docMk/>
            <pc:sldMk cId="1657243994" sldId="334"/>
            <ac:graphicFrameMk id="200" creationId="{00000000-0000-0000-0000-000000000000}"/>
          </ac:graphicFrameMkLst>
        </pc:graphicFrameChg>
      </pc:sldChg>
      <pc:sldChg chg="add">
        <pc:chgData name="小林　泰良" userId="db2aa334-7078-47cd-861a-e0966d7f019c" providerId="ADAL" clId="{0C9C2C0F-B3BC-549E-BE1A-E8C2DFCE6479}" dt="2026-09-17T10:43:57.527" v="374"/>
        <pc:sldMkLst>
          <pc:docMk/>
          <pc:sldMk cId="738535343" sldId="343"/>
        </pc:sldMkLst>
      </pc:sldChg>
      <pc:sldChg chg="modSp add mod">
        <pc:chgData name="小林　泰良" userId="db2aa334-7078-47cd-861a-e0966d7f019c" providerId="ADAL" clId="{0C9C2C0F-B3BC-549E-BE1A-E8C2DFCE6479}" dt="2026-09-17T10:56:54.974" v="387" actId="27636"/>
        <pc:sldMkLst>
          <pc:docMk/>
          <pc:sldMk cId="4123964422" sldId="347"/>
        </pc:sldMkLst>
        <pc:spChg chg="mod">
          <ac:chgData name="小林　泰良" userId="db2aa334-7078-47cd-861a-e0966d7f019c" providerId="ADAL" clId="{0C9C2C0F-B3BC-549E-BE1A-E8C2DFCE6479}" dt="2026-09-17T10:56:54.974" v="387" actId="27636"/>
          <ac:spMkLst>
            <pc:docMk/>
            <pc:sldMk cId="4123964422" sldId="347"/>
            <ac:spMk id="7" creationId="{867DBD3B-EC8D-420D-BC77-B4D92AF9724E}"/>
          </ac:spMkLst>
        </pc:spChg>
      </pc:sldChg>
      <pc:sldChg chg="modSp add mod">
        <pc:chgData name="小林　泰良" userId="db2aa334-7078-47cd-861a-e0966d7f019c" providerId="ADAL" clId="{0C9C2C0F-B3BC-549E-BE1A-E8C2DFCE6479}" dt="2026-09-17T11:16:53.857" v="423" actId="27636"/>
        <pc:sldMkLst>
          <pc:docMk/>
          <pc:sldMk cId="2198553250" sldId="359"/>
        </pc:sldMkLst>
        <pc:spChg chg="mod">
          <ac:chgData name="小林　泰良" userId="db2aa334-7078-47cd-861a-e0966d7f019c" providerId="ADAL" clId="{0C9C2C0F-B3BC-549E-BE1A-E8C2DFCE6479}" dt="2026-09-17T11:16:53.857" v="423" actId="27636"/>
          <ac:spMkLst>
            <pc:docMk/>
            <pc:sldMk cId="2198553250" sldId="359"/>
            <ac:spMk id="113" creationId="{00000000-0000-0000-0000-000000000000}"/>
          </ac:spMkLst>
        </pc:spChg>
      </pc:sldChg>
      <pc:sldChg chg="add del">
        <pc:chgData name="小林　泰良" userId="db2aa334-7078-47cd-861a-e0966d7f019c" providerId="ADAL" clId="{0C9C2C0F-B3BC-549E-BE1A-E8C2DFCE6479}" dt="2026-09-23T13:05:56.061" v="449"/>
        <pc:sldMkLst>
          <pc:docMk/>
          <pc:sldMk cId="3923549608" sldId="361"/>
        </pc:sldMkLst>
      </pc:sldChg>
      <pc:sldChg chg="add del">
        <pc:chgData name="小林　泰良" userId="db2aa334-7078-47cd-861a-e0966d7f019c" providerId="ADAL" clId="{0C9C2C0F-B3BC-549E-BE1A-E8C2DFCE6479}" dt="2026-09-23T13:08:52.753" v="453"/>
        <pc:sldMkLst>
          <pc:docMk/>
          <pc:sldMk cId="3677368421" sldId="362"/>
        </pc:sldMkLst>
      </pc:sldChg>
      <pc:sldChg chg="add del">
        <pc:chgData name="小林　泰良" userId="db2aa334-7078-47cd-861a-e0966d7f019c" providerId="ADAL" clId="{0C9C2C0F-B3BC-549E-BE1A-E8C2DFCE6479}" dt="2026-09-23T18:02:26.257" v="455"/>
        <pc:sldMkLst>
          <pc:docMk/>
          <pc:sldMk cId="3952437337" sldId="366"/>
        </pc:sldMkLst>
      </pc:sldChg>
      <pc:sldChg chg="modSp add mod">
        <pc:chgData name="小林　泰良" userId="db2aa334-7078-47cd-861a-e0966d7f019c" providerId="ADAL" clId="{0C9C2C0F-B3BC-549E-BE1A-E8C2DFCE6479}" dt="2026-09-23T19:16:52.637" v="1067" actId="20577"/>
        <pc:sldMkLst>
          <pc:docMk/>
          <pc:sldMk cId="3348167634" sldId="367"/>
        </pc:sldMkLst>
        <pc:spChg chg="mod">
          <ac:chgData name="小林　泰良" userId="db2aa334-7078-47cd-861a-e0966d7f019c" providerId="ADAL" clId="{0C9C2C0F-B3BC-549E-BE1A-E8C2DFCE6479}" dt="2026-09-23T19:15:41.822" v="965" actId="6549"/>
          <ac:spMkLst>
            <pc:docMk/>
            <pc:sldMk cId="3348167634" sldId="367"/>
            <ac:spMk id="100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16:52.637" v="1067" actId="20577"/>
          <ac:spMkLst>
            <pc:docMk/>
            <pc:sldMk cId="3348167634" sldId="367"/>
            <ac:spMk id="101" creationId="{00000000-0000-0000-0000-000000000000}"/>
          </ac:spMkLst>
        </pc:spChg>
      </pc:sldChg>
      <pc:sldChg chg="modSp add del mod">
        <pc:chgData name="小林　泰良" userId="db2aa334-7078-47cd-861a-e0966d7f019c" providerId="ADAL" clId="{0C9C2C0F-B3BC-549E-BE1A-E8C2DFCE6479}" dt="2026-09-23T13:06:43.208" v="452"/>
        <pc:sldMkLst>
          <pc:docMk/>
          <pc:sldMk cId="1504556454" sldId="368"/>
        </pc:sldMkLst>
        <pc:spChg chg="mod">
          <ac:chgData name="小林　泰良" userId="db2aa334-7078-47cd-861a-e0966d7f019c" providerId="ADAL" clId="{0C9C2C0F-B3BC-549E-BE1A-E8C2DFCE6479}" dt="2026-09-23T13:05:56.081" v="450" actId="27636"/>
          <ac:spMkLst>
            <pc:docMk/>
            <pc:sldMk cId="1504556454" sldId="368"/>
            <ac:spMk id="7" creationId="{31F0FD51-60D3-3268-A789-02247DFDC955}"/>
          </ac:spMkLst>
        </pc:spChg>
      </pc:sldChg>
      <pc:sldChg chg="add del">
        <pc:chgData name="小林　泰良" userId="db2aa334-7078-47cd-861a-e0966d7f019c" providerId="ADAL" clId="{0C9C2C0F-B3BC-549E-BE1A-E8C2DFCE6479}" dt="2026-09-23T18:06:54.400" v="471"/>
        <pc:sldMkLst>
          <pc:docMk/>
          <pc:sldMk cId="2305046970" sldId="369"/>
        </pc:sldMkLst>
      </pc:sldChg>
      <pc:sldChg chg="modSp add del mod">
        <pc:chgData name="小林　泰良" userId="db2aa334-7078-47cd-861a-e0966d7f019c" providerId="ADAL" clId="{0C9C2C0F-B3BC-549E-BE1A-E8C2DFCE6479}" dt="2026-09-23T18:03:08.479" v="459"/>
        <pc:sldMkLst>
          <pc:docMk/>
          <pc:sldMk cId="288890479" sldId="370"/>
        </pc:sldMkLst>
        <pc:spChg chg="mod">
          <ac:chgData name="小林　泰良" userId="db2aa334-7078-47cd-861a-e0966d7f019c" providerId="ADAL" clId="{0C9C2C0F-B3BC-549E-BE1A-E8C2DFCE6479}" dt="2026-09-23T18:02:26.275" v="456" actId="27636"/>
          <ac:spMkLst>
            <pc:docMk/>
            <pc:sldMk cId="288890479" sldId="370"/>
            <ac:spMk id="3" creationId="{BBACCCF8-D92E-E6C1-09D0-FA990053D93A}"/>
          </ac:spMkLst>
        </pc:spChg>
        <pc:spChg chg="mod">
          <ac:chgData name="小林　泰良" userId="db2aa334-7078-47cd-861a-e0966d7f019c" providerId="ADAL" clId="{0C9C2C0F-B3BC-549E-BE1A-E8C2DFCE6479}" dt="2026-09-23T18:02:26.277" v="457" actId="27636"/>
          <ac:spMkLst>
            <pc:docMk/>
            <pc:sldMk cId="288890479" sldId="370"/>
            <ac:spMk id="132" creationId="{00000000-0000-0000-0000-000000000000}"/>
          </ac:spMkLst>
        </pc:spChg>
      </pc:sldChg>
      <pc:sldChg chg="modSp add del mod">
        <pc:chgData name="小林　泰良" userId="db2aa334-7078-47cd-861a-e0966d7f019c" providerId="ADAL" clId="{0C9C2C0F-B3BC-549E-BE1A-E8C2DFCE6479}" dt="2026-09-23T18:03:40.969" v="464"/>
        <pc:sldMkLst>
          <pc:docMk/>
          <pc:sldMk cId="1652089532" sldId="371"/>
        </pc:sldMkLst>
        <pc:spChg chg="mod">
          <ac:chgData name="小林　泰良" userId="db2aa334-7078-47cd-861a-e0966d7f019c" providerId="ADAL" clId="{0C9C2C0F-B3BC-549E-BE1A-E8C2DFCE6479}" dt="2026-09-23T18:03:08.580" v="461" actId="27636"/>
          <ac:spMkLst>
            <pc:docMk/>
            <pc:sldMk cId="1652089532" sldId="371"/>
            <ac:spMk id="101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8:03:08.583" v="462" actId="27636"/>
          <ac:spMkLst>
            <pc:docMk/>
            <pc:sldMk cId="1652089532" sldId="371"/>
            <ac:spMk id="131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8:03:08.577" v="460" actId="27636"/>
          <ac:spMkLst>
            <pc:docMk/>
            <pc:sldMk cId="1652089532" sldId="371"/>
            <ac:spMk id="132" creationId="{00000000-0000-0000-0000-000000000000}"/>
          </ac:spMkLst>
        </pc:spChg>
      </pc:sldChg>
      <pc:sldChg chg="modSp add del mod">
        <pc:chgData name="小林　泰良" userId="db2aa334-7078-47cd-861a-e0966d7f019c" providerId="ADAL" clId="{0C9C2C0F-B3BC-549E-BE1A-E8C2DFCE6479}" dt="2026-09-23T18:04:14.424" v="468"/>
        <pc:sldMkLst>
          <pc:docMk/>
          <pc:sldMk cId="227800394" sldId="372"/>
        </pc:sldMkLst>
        <pc:spChg chg="mod">
          <ac:chgData name="小林　泰良" userId="db2aa334-7078-47cd-861a-e0966d7f019c" providerId="ADAL" clId="{0C9C2C0F-B3BC-549E-BE1A-E8C2DFCE6479}" dt="2026-09-23T18:03:41.079" v="466" actId="27636"/>
          <ac:spMkLst>
            <pc:docMk/>
            <pc:sldMk cId="227800394" sldId="372"/>
            <ac:spMk id="101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8:03:41.076" v="465" actId="27636"/>
          <ac:spMkLst>
            <pc:docMk/>
            <pc:sldMk cId="227800394" sldId="372"/>
            <ac:spMk id="131" creationId="{00000000-0000-0000-0000-000000000000}"/>
          </ac:spMkLst>
        </pc:spChg>
      </pc:sldChg>
      <pc:sldChg chg="modSp add del mod">
        <pc:chgData name="小林　泰良" userId="db2aa334-7078-47cd-861a-e0966d7f019c" providerId="ADAL" clId="{0C9C2C0F-B3BC-549E-BE1A-E8C2DFCE6479}" dt="2026-09-23T18:07:07.361" v="473"/>
        <pc:sldMkLst>
          <pc:docMk/>
          <pc:sldMk cId="1906840444" sldId="373"/>
        </pc:sldMkLst>
        <pc:spChg chg="mod">
          <ac:chgData name="小林　泰良" userId="db2aa334-7078-47cd-861a-e0966d7f019c" providerId="ADAL" clId="{0C9C2C0F-B3BC-549E-BE1A-E8C2DFCE6479}" dt="2026-09-23T18:04:14.543" v="469" actId="27636"/>
          <ac:spMkLst>
            <pc:docMk/>
            <pc:sldMk cId="1906840444" sldId="373"/>
            <ac:spMk id="132" creationId="{00000000-0000-0000-0000-000000000000}"/>
          </ac:spMkLst>
        </pc:spChg>
      </pc:sldChg>
      <pc:sldChg chg="add del">
        <pc:chgData name="小林　泰良" userId="db2aa334-7078-47cd-861a-e0966d7f019c" providerId="ADAL" clId="{0C9C2C0F-B3BC-549E-BE1A-E8C2DFCE6479}" dt="2026-09-23T18:07:38.783" v="475"/>
        <pc:sldMkLst>
          <pc:docMk/>
          <pc:sldMk cId="1123418322" sldId="374"/>
        </pc:sldMkLst>
      </pc:sldChg>
      <pc:sldChg chg="add del">
        <pc:chgData name="小林　泰良" userId="db2aa334-7078-47cd-861a-e0966d7f019c" providerId="ADAL" clId="{0C9C2C0F-B3BC-549E-BE1A-E8C2DFCE6479}" dt="2026-09-23T18:37:17.389" v="479"/>
        <pc:sldMkLst>
          <pc:docMk/>
          <pc:sldMk cId="2072630156" sldId="375"/>
        </pc:sldMkLst>
      </pc:sldChg>
      <pc:sldChg chg="add del">
        <pc:chgData name="小林　泰良" userId="db2aa334-7078-47cd-861a-e0966d7f019c" providerId="ADAL" clId="{0C9C2C0F-B3BC-549E-BE1A-E8C2DFCE6479}" dt="2026-09-23T18:08:04.643" v="477"/>
        <pc:sldMkLst>
          <pc:docMk/>
          <pc:sldMk cId="2842716141" sldId="376"/>
        </pc:sldMkLst>
      </pc:sldChg>
      <pc:sldChg chg="add del">
        <pc:chgData name="小林　泰良" userId="db2aa334-7078-47cd-861a-e0966d7f019c" providerId="ADAL" clId="{0C9C2C0F-B3BC-549E-BE1A-E8C2DFCE6479}" dt="2026-09-23T18:37:53.665" v="485"/>
        <pc:sldMkLst>
          <pc:docMk/>
          <pc:sldMk cId="1570822203" sldId="377"/>
        </pc:sldMkLst>
      </pc:sldChg>
      <pc:sldChg chg="add">
        <pc:chgData name="小林　泰良" userId="db2aa334-7078-47cd-861a-e0966d7f019c" providerId="ADAL" clId="{0C9C2C0F-B3BC-549E-BE1A-E8C2DFCE6479}" dt="2026-09-23T18:37:17.387" v="478"/>
        <pc:sldMkLst>
          <pc:docMk/>
          <pc:sldMk cId="1223071570" sldId="378"/>
        </pc:sldMkLst>
      </pc:sldChg>
      <pc:sldChg chg="add del">
        <pc:chgData name="小林　泰良" userId="db2aa334-7078-47cd-861a-e0966d7f019c" providerId="ADAL" clId="{0C9C2C0F-B3BC-549E-BE1A-E8C2DFCE6479}" dt="2026-09-23T18:38:14.894" v="487"/>
        <pc:sldMkLst>
          <pc:docMk/>
          <pc:sldMk cId="654799843" sldId="379"/>
        </pc:sldMkLst>
      </pc:sldChg>
      <pc:sldChg chg="modSp add mod">
        <pc:chgData name="小林　泰良" userId="db2aa334-7078-47cd-861a-e0966d7f019c" providerId="ADAL" clId="{0C9C2C0F-B3BC-549E-BE1A-E8C2DFCE6479}" dt="2026-09-23T19:36:21.852" v="1525" actId="20577"/>
        <pc:sldMkLst>
          <pc:docMk/>
          <pc:sldMk cId="2449506300" sldId="380"/>
        </pc:sldMkLst>
        <pc:spChg chg="mod">
          <ac:chgData name="小林　泰良" userId="db2aa334-7078-47cd-861a-e0966d7f019c" providerId="ADAL" clId="{0C9C2C0F-B3BC-549E-BE1A-E8C2DFCE6479}" dt="2026-09-23T19:34:15.200" v="1261" actId="20577"/>
          <ac:spMkLst>
            <pc:docMk/>
            <pc:sldMk cId="2449506300" sldId="380"/>
            <ac:spMk id="107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35:15.923" v="1304" actId="6549"/>
          <ac:spMkLst>
            <pc:docMk/>
            <pc:sldMk cId="2449506300" sldId="380"/>
            <ac:spMk id="108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35:28.584" v="1313" actId="20577"/>
          <ac:spMkLst>
            <pc:docMk/>
            <pc:sldMk cId="2449506300" sldId="380"/>
            <ac:spMk id="110" creationId="{00000000-0000-0000-0000-000000000000}"/>
          </ac:spMkLst>
        </pc:spChg>
        <pc:spChg chg="mod">
          <ac:chgData name="小林　泰良" userId="db2aa334-7078-47cd-861a-e0966d7f019c" providerId="ADAL" clId="{0C9C2C0F-B3BC-549E-BE1A-E8C2DFCE6479}" dt="2026-09-23T19:36:21.852" v="1525" actId="20577"/>
          <ac:spMkLst>
            <pc:docMk/>
            <pc:sldMk cId="2449506300" sldId="380"/>
            <ac:spMk id="111" creationId="{00000000-0000-0000-0000-000000000000}"/>
          </ac:spMkLst>
        </pc:spChg>
      </pc:sldChg>
      <pc:sldChg chg="add del">
        <pc:chgData name="小林　泰良" userId="db2aa334-7078-47cd-861a-e0966d7f019c" providerId="ADAL" clId="{0C9C2C0F-B3BC-549E-BE1A-E8C2DFCE6479}" dt="2026-09-23T18:39:10.181" v="489"/>
        <pc:sldMkLst>
          <pc:docMk/>
          <pc:sldMk cId="634053148" sldId="381"/>
        </pc:sldMkLst>
      </pc:sldChg>
      <pc:sldChg chg="add">
        <pc:chgData name="小林　泰良" userId="db2aa334-7078-47cd-861a-e0966d7f019c" providerId="ADAL" clId="{0C9C2C0F-B3BC-549E-BE1A-E8C2DFCE6479}" dt="2026-09-23T18:38:14.892" v="486"/>
        <pc:sldMkLst>
          <pc:docMk/>
          <pc:sldMk cId="3155427337" sldId="382"/>
        </pc:sldMkLst>
      </pc:sldChg>
      <pc:sldChg chg="add del">
        <pc:chgData name="小林　泰良" userId="db2aa334-7078-47cd-861a-e0966d7f019c" providerId="ADAL" clId="{0C9C2C0F-B3BC-549E-BE1A-E8C2DFCE6479}" dt="2026-09-23T18:39:29.964" v="491"/>
        <pc:sldMkLst>
          <pc:docMk/>
          <pc:sldMk cId="706664308" sldId="383"/>
        </pc:sldMkLst>
      </pc:sldChg>
      <pc:sldChg chg="add">
        <pc:chgData name="小林　泰良" userId="db2aa334-7078-47cd-861a-e0966d7f019c" providerId="ADAL" clId="{0C9C2C0F-B3BC-549E-BE1A-E8C2DFCE6479}" dt="2026-09-23T18:39:29.963" v="490"/>
        <pc:sldMkLst>
          <pc:docMk/>
          <pc:sldMk cId="2732963021" sldId="384"/>
        </pc:sldMkLst>
      </pc:sldChg>
      <pc:sldMasterChg chg="modSp mod modSldLayout">
        <pc:chgData name="小林　泰良" userId="db2aa334-7078-47cd-861a-e0966d7f019c" providerId="ADAL" clId="{0C9C2C0F-B3BC-549E-BE1A-E8C2DFCE6479}" dt="2026-09-17T04:39:07.488" v="48" actId="478"/>
        <pc:sldMasterMkLst>
          <pc:docMk/>
          <pc:sldMasterMk cId="798934547" sldId="2147483648"/>
        </pc:sldMasterMkLst>
        <pc:spChg chg="mod">
          <ac:chgData name="小林　泰良" userId="db2aa334-7078-47cd-861a-e0966d7f019c" providerId="ADAL" clId="{0C9C2C0F-B3BC-549E-BE1A-E8C2DFCE6479}" dt="2026-09-17T04:38:58.622" v="47" actId="403"/>
          <ac:spMkLst>
            <pc:docMk/>
            <pc:sldMasterMk cId="798934547" sldId="2147483648"/>
            <ac:spMk id="6" creationId="{8D05AE1F-AC4D-A3DA-7D12-5596BCEE02FA}"/>
          </ac:spMkLst>
        </pc:spChg>
        <pc:sldLayoutChg chg="delSp mod">
          <pc:chgData name="小林　泰良" userId="db2aa334-7078-47cd-861a-e0966d7f019c" providerId="ADAL" clId="{0C9C2C0F-B3BC-549E-BE1A-E8C2DFCE6479}" dt="2026-09-17T04:39:07.488" v="48" actId="478"/>
          <pc:sldLayoutMkLst>
            <pc:docMk/>
            <pc:sldMasterMk cId="798934547" sldId="2147483648"/>
            <pc:sldLayoutMk cId="3865043238" sldId="2147483649"/>
          </pc:sldLayoutMkLst>
        </pc:sldLayoutChg>
        <pc:sldLayoutChg chg="modSp mod">
          <pc:chgData name="小林　泰良" userId="db2aa334-7078-47cd-861a-e0966d7f019c" providerId="ADAL" clId="{0C9C2C0F-B3BC-549E-BE1A-E8C2DFCE6479}" dt="2026-09-17T04:38:45.976" v="41" actId="403"/>
          <pc:sldLayoutMkLst>
            <pc:docMk/>
            <pc:sldMasterMk cId="798934547" sldId="2147483648"/>
            <pc:sldLayoutMk cId="3027877940" sldId="2147483650"/>
          </pc:sldLayoutMkLst>
          <pc:spChg chg="mod">
            <ac:chgData name="小林　泰良" userId="db2aa334-7078-47cd-861a-e0966d7f019c" providerId="ADAL" clId="{0C9C2C0F-B3BC-549E-BE1A-E8C2DFCE6479}" dt="2026-09-17T04:38:45.976" v="41" actId="403"/>
            <ac:spMkLst>
              <pc:docMk/>
              <pc:sldMasterMk cId="798934547" sldId="2147483648"/>
              <pc:sldLayoutMk cId="3027877940" sldId="2147483650"/>
              <ac:spMk id="6" creationId="{6773CEA6-28E8-535B-3657-60ADA1A2868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1E54B-03A4-C64D-A3D3-4B82B101E318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A9998-5C59-2446-ACC9-A204B7E1B1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72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EAD88E-9BE2-384C-DEE9-EA39991B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B55438-2C73-3D77-3B79-ADE2A609E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8409F1-1AD6-8699-5F0E-A1138BD0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6640945"/>
            <a:ext cx="1006258" cy="195984"/>
          </a:xfrm>
        </p:spPr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F7B5BE-983F-3AE8-5F09-1B3FBC57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</p:spTree>
    <p:extLst>
      <p:ext uri="{BB962C8B-B14F-4D97-AF65-F5344CB8AC3E}">
        <p14:creationId xmlns:p14="http://schemas.microsoft.com/office/powerpoint/2010/main" val="3865043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2E91D-E99D-FC0A-00B6-894288D8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B6F86D-40BF-F9A7-7762-59720B74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E67D4-E38A-72DA-DAE0-B5932618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E61B4-6290-3647-3A7A-718F61F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3CEA6-28E8-535B-3657-60ADA1A2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509" y="15370"/>
            <a:ext cx="756492" cy="483394"/>
          </a:xfrm>
        </p:spPr>
        <p:txBody>
          <a:bodyPr/>
          <a:lstStyle>
            <a:lvl1pPr>
              <a:defRPr sz="2000"/>
            </a:lvl1pPr>
          </a:lstStyle>
          <a:p>
            <a:fld id="{E8009ACF-DCE5-5E4C-B5F0-C49974921079}" type="slidenum">
              <a:rPr lang="ja-JP" altLang="en-US" smtClean="0"/>
              <a:pPr/>
              <a:t>‹#›</a:t>
            </a:fld>
            <a:endParaRPr lang="ja-JP" altLang="en-US" sz="200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4FABB1F-031D-8705-5E44-AF91C007B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188075"/>
            <a:ext cx="11163300" cy="444500"/>
          </a:xfrm>
        </p:spPr>
        <p:txBody>
          <a:bodyPr numCol="2" anchor="t">
            <a:normAutofit/>
          </a:bodyPr>
          <a:lstStyle>
            <a:lvl1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[1]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87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2E91D-E99D-FC0A-00B6-894288D8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B6F86D-40BF-F9A7-7762-59720B74A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0364"/>
            <a:ext cx="5943600" cy="54864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E67D4-E38A-72DA-DAE0-B5932618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E61B4-6290-3647-3A7A-718F61F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3CEA6-28E8-535B-3657-60ADA1A2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4FABB1F-031D-8705-5E44-AF91C007B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188075"/>
            <a:ext cx="11163300" cy="444500"/>
          </a:xfrm>
        </p:spPr>
        <p:txBody>
          <a:bodyPr numCol="2" anchor="t">
            <a:normAutofit/>
          </a:bodyPr>
          <a:lstStyle>
            <a:lvl1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[1]</a:t>
            </a:r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43164465-5DE2-D9A1-B0E4-95C4BB0647B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600364"/>
            <a:ext cx="5943600" cy="54864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1453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2E91D-E99D-FC0A-00B6-894288D8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B6F86D-40BF-F9A7-7762-59720B74A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0364"/>
            <a:ext cx="11887200" cy="282863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E67D4-E38A-72DA-DAE0-B5932618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E61B4-6290-3647-3A7A-718F61F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3CEA6-28E8-535B-3657-60ADA1A2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4FABB1F-031D-8705-5E44-AF91C007B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188075"/>
            <a:ext cx="11163300" cy="444500"/>
          </a:xfrm>
        </p:spPr>
        <p:txBody>
          <a:bodyPr numCol="2" anchor="t">
            <a:normAutofit/>
          </a:bodyPr>
          <a:lstStyle>
            <a:lvl1pPr marL="0" indent="0">
              <a:lnSpc>
                <a:spcPts val="144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[1]</a:t>
            </a:r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01975CF9-133C-6531-2122-2E4F294D76D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2400" y="3446895"/>
            <a:ext cx="11887200" cy="263986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1970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4F952-70D8-0B1D-FEE0-DBECA2CAE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参考文献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F34915-8ADF-DF68-15C8-6AA24B36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2026/9/24</a:t>
            </a:r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D4B6BC-C859-C534-73D6-4B28223B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生体情報システム研究室　セミナー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2BE86D-CF88-E942-5D23-2CCF0970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7DB46AFE-4370-489E-3CE3-755EB769E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0364"/>
            <a:ext cx="11887200" cy="5486400"/>
          </a:xfrm>
        </p:spPr>
        <p:txBody>
          <a:bodyPr/>
          <a:lstStyle>
            <a:lvl1pPr marL="182563" indent="-182563">
              <a:buFont typeface="Wingdings" pitchFamily="2" charset="2"/>
              <a:buChar char="u"/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352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131CD5A-DAF9-3708-2EC6-16D4BBA4D502}"/>
              </a:ext>
            </a:extLst>
          </p:cNvPr>
          <p:cNvSpPr/>
          <p:nvPr userDrawn="1"/>
        </p:nvSpPr>
        <p:spPr>
          <a:xfrm>
            <a:off x="0" y="6197654"/>
            <a:ext cx="12192000" cy="660346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001FA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217034-EB54-2C62-20C4-28D28564D64B}"/>
              </a:ext>
            </a:extLst>
          </p:cNvPr>
          <p:cNvSpPr/>
          <p:nvPr userDrawn="1"/>
        </p:nvSpPr>
        <p:spPr>
          <a:xfrm>
            <a:off x="0" y="1"/>
            <a:ext cx="12192000" cy="498764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001FA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079651-0171-FE0C-5B3F-CC508F49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70"/>
            <a:ext cx="10515600" cy="483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AC1F7A-6C96-0AFD-7864-789C27DF2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600364"/>
            <a:ext cx="118872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95B325-F955-69A1-BD30-74B3A2A73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124" y="6662015"/>
            <a:ext cx="987468" cy="180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2026/9/24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C4949C-9DEB-4BD4-0F1E-5C301BC5F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6809" y="6662015"/>
            <a:ext cx="8378381" cy="180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05AE1F-AC4D-A3DA-7D12-5596BCEE0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4591" y="29861"/>
            <a:ext cx="661821" cy="45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E8009ACF-DCE5-5E4C-B5F0-C49974921079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0" name="図 9" descr="抽象, 挿絵 が含まれている画像&#10;&#10;自動的に生成された説明">
            <a:extLst>
              <a:ext uri="{FF2B5EF4-FFF2-40B4-BE49-F238E27FC236}">
                <a16:creationId xmlns:a16="http://schemas.microsoft.com/office/drawing/2014/main" id="{60A00174-F775-6E7D-A4C5-35308D707E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315207" y="6356348"/>
            <a:ext cx="452582" cy="510941"/>
          </a:xfrm>
          <a:prstGeom prst="rect">
            <a:avLst/>
          </a:prstGeom>
        </p:spPr>
      </p:pic>
      <p:pic>
        <p:nvPicPr>
          <p:cNvPr id="12" name="図 11" descr="ロゴ, 会社名&#10;&#10;自動的に生成された説明">
            <a:extLst>
              <a:ext uri="{FF2B5EF4-FFF2-40B4-BE49-F238E27FC236}">
                <a16:creationId xmlns:a16="http://schemas.microsoft.com/office/drawing/2014/main" id="{DAF14B0A-9AAA-6037-2859-0EE16532682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775583" y="6356348"/>
            <a:ext cx="400829" cy="5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3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Char char="•"/>
        <a:tabLst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168275" algn="l" defTabSz="914400" rtl="0" eaLnBrk="1" latinLnBrk="0" hangingPunct="1">
        <a:lnSpc>
          <a:spcPct val="90000"/>
        </a:lnSpc>
        <a:spcBef>
          <a:spcPts val="500"/>
        </a:spcBef>
        <a:buSzPct val="60000"/>
        <a:buFont typeface="Wingdings" pitchFamily="2" charset="2"/>
        <a:buChar char="Ø"/>
        <a:tabLst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66800" indent="-1524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DC9C7-CC7D-71AB-677D-B7A9A865C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800" b="1" dirty="0">
                <a:latin typeface="Calibri" panose="020F0502020204030204" pitchFamily="34" charset="0"/>
                <a:cs typeface="Calibri" panose="020F0502020204030204" pitchFamily="34" charset="0"/>
              </a:rPr>
              <a:t>How to Code with Claude</a:t>
            </a:r>
          </a:p>
          <a:p>
            <a:pPr>
              <a:spcBef>
                <a:spcPts val="600"/>
              </a:spcBef>
            </a:pPr>
            <a:r>
              <a:rPr kumimoji="1" lang="ja-JP" altLang="en-US" sz="2400" b="0" dirty="0">
                <a:solidFill>
                  <a:srgbClr val="1F3C88"/>
                </a:solidFill>
              </a:rPr>
              <a:t>Claude Code で始める研究プログラミングの基礎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3066C0-F271-21A0-9611-5F095D22C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r>
              <a:rPr kumimoji="1" lang="ja-JP" altLang="en-US" sz="1800" dirty="0">
                <a:solidFill>
                  <a:srgbClr val="444444"/>
                </a:solidFill>
              </a:rPr>
              <a:t>セットアップ・基本操作・CLAUDE.md・Skills・Subagents ─ ハンズオン 4 回・60 分</a:t>
            </a:r>
          </a:p>
          <a:p>
            <a:r>
              <a:rPr kumimoji="1" lang="ja-JP" altLang="en-US" sz="1600">
                <a:solidFill>
                  <a:srgbClr val="444444"/>
                </a:solidFill>
              </a:rPr>
              <a:t>生体</a:t>
            </a:r>
            <a:r>
              <a:rPr kumimoji="1" lang="ja-JP" altLang="en-US" sz="1600" dirty="0">
                <a:solidFill>
                  <a:srgbClr val="444444"/>
                </a:solidFill>
              </a:rPr>
              <a:t>情報システム</a:t>
            </a:r>
            <a:r>
              <a:rPr kumimoji="1" lang="ja-JP" altLang="en-US" sz="1600">
                <a:solidFill>
                  <a:srgbClr val="444444"/>
                </a:solidFill>
              </a:rPr>
              <a:t>研究室 セミナー</a:t>
            </a:r>
            <a:endParaRPr kumimoji="1" lang="en-US" altLang="ja-JP" sz="1600" dirty="0">
              <a:solidFill>
                <a:srgbClr val="444444"/>
              </a:solidFill>
            </a:endParaRPr>
          </a:p>
          <a:p>
            <a:r>
              <a:rPr lang="ja-JP" altLang="en-US" sz="1600">
                <a:solidFill>
                  <a:srgbClr val="444444"/>
                </a:solidFill>
              </a:rPr>
              <a:t>山口大学　小林</a:t>
            </a:r>
            <a:endParaRPr kumimoji="1" lang="ja-JP" altLang="en-US" sz="1600" dirty="0">
              <a:solidFill>
                <a:srgbClr val="444444"/>
              </a:solidFill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609EA8-2C17-EA91-6BBC-CB1C4805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F9023D-4199-FC34-4B92-18EB492C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</p:spTree>
    <p:extLst>
      <p:ext uri="{BB962C8B-B14F-4D97-AF65-F5344CB8AC3E}">
        <p14:creationId xmlns:p14="http://schemas.microsoft.com/office/powerpoint/2010/main" val="423323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0587A0-E592-A271-4606-2EE5A0E4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本日のゴール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C3CCC9-B0C4-69F9-63AA-ED759A92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5715000" cy="46990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この60分で到達したい状態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kumimoji="1" lang="ja-JP" altLang="en-US" sz="2000" dirty="0"/>
              <a:t>Claude Code を自分のPCで起動し、Pythonの解析コードを「指示して書かせる」ことができる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kumimoji="1" lang="ja-JP" altLang="en-US" sz="2000" dirty="0"/>
              <a:t>CLAUDE.md と Skills の仕組みを理解し、研究室で共有できる形に整えられる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kumimoji="1" lang="ja-JP" altLang="en-US" sz="2000" dirty="0"/>
              <a:t>安全に使うためのルール（権限・レビュー・データの扱い）を説明できる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2A92AE-33C6-75D5-9D21-C4E2451A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843619-F914-3B85-6DBE-F98C9098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AC619C-A0F7-5C08-02AF-A62D915D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E3642AF-512B-4301-285C-D143FCFA68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740400"/>
            <a:ext cx="11277600" cy="355600"/>
          </a:xfrm>
        </p:spPr>
        <p:txBody>
          <a:bodyPr numCol="1" anchor="ctr">
            <a:normAutofit fontScale="700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前提：Python の基本とターミナル操作ができること／Claude Code（有料プラン）または Google Antigravity（無料枠）のどちらかが使えること（未了の方は §1 で一緒に進めます）</a:t>
            </a:r>
          </a:p>
        </p:txBody>
      </p:sp>
      <p:sp>
        <p:nvSpPr>
          <p:cNvPr id="100" name="Shape 101"/>
          <p:cNvSpPr/>
          <p:nvPr/>
        </p:nvSpPr>
        <p:spPr>
          <a:xfrm>
            <a:off x="6553200" y="787400"/>
            <a:ext cx="5181600" cy="381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本日のハンズオン（4回）</a:t>
            </a:r>
          </a:p>
        </p:txBody>
      </p:sp>
      <p:sp>
        <p:nvSpPr>
          <p:cNvPr id="101" name="Shape 102"/>
          <p:cNvSpPr/>
          <p:nvPr/>
        </p:nvSpPr>
        <p:spPr>
          <a:xfrm>
            <a:off x="6553200" y="1270000"/>
            <a:ext cx="762000" cy="1016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Shape 103"/>
          <p:cNvSpPr/>
          <p:nvPr/>
        </p:nvSpPr>
        <p:spPr>
          <a:xfrm>
            <a:off x="7315200" y="1270000"/>
            <a:ext cx="4419600" cy="1016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ハンズオン ①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800" b="1" dirty="0"/>
              <a:t>起動と /init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CLAUDE.md を自動生成して読む</a:t>
            </a:r>
          </a:p>
        </p:txBody>
      </p:sp>
      <p:sp>
        <p:nvSpPr>
          <p:cNvPr id="103" name="Shape 104"/>
          <p:cNvSpPr/>
          <p:nvPr/>
        </p:nvSpPr>
        <p:spPr>
          <a:xfrm>
            <a:off x="6553200" y="2387600"/>
            <a:ext cx="762000" cy="1016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7315200" y="2387600"/>
            <a:ext cx="4419600" cy="1016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ハンズオン ②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800" b="1" dirty="0"/>
              <a:t>解析スクリプトに機能追加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欠損値処理を追加し pytest を通す</a:t>
            </a:r>
          </a:p>
        </p:txBody>
      </p:sp>
      <p:sp>
        <p:nvSpPr>
          <p:cNvPr id="105" name="Shape 106"/>
          <p:cNvSpPr/>
          <p:nvPr/>
        </p:nvSpPr>
        <p:spPr>
          <a:xfrm>
            <a:off x="6553200" y="3505200"/>
            <a:ext cx="762000" cy="1016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6" name="Shape 107"/>
          <p:cNvSpPr/>
          <p:nvPr/>
        </p:nvSpPr>
        <p:spPr>
          <a:xfrm>
            <a:off x="7315200" y="3505200"/>
            <a:ext cx="4419600" cy="1016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ハンズオン ③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800" b="1" dirty="0"/>
              <a:t>Skill を作る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ラボ規約で図を描く /plot-style</a:t>
            </a:r>
          </a:p>
        </p:txBody>
      </p:sp>
      <p:sp>
        <p:nvSpPr>
          <p:cNvPr id="107" name="Shape 108"/>
          <p:cNvSpPr/>
          <p:nvPr/>
        </p:nvSpPr>
        <p:spPr>
          <a:xfrm>
            <a:off x="6553200" y="4622800"/>
            <a:ext cx="762000" cy="1016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8" name="Shape 109"/>
          <p:cNvSpPr/>
          <p:nvPr/>
        </p:nvSpPr>
        <p:spPr>
          <a:xfrm>
            <a:off x="7315200" y="4622800"/>
            <a:ext cx="4419600" cy="1016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ハンズオン ④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800" b="1" dirty="0"/>
              <a:t>Subagent に分担させる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レビュー担当・テスト担当の subagent を定義</a:t>
            </a:r>
          </a:p>
        </p:txBody>
      </p:sp>
    </p:spTree>
    <p:extLst>
      <p:ext uri="{BB962C8B-B14F-4D97-AF65-F5344CB8AC3E}">
        <p14:creationId xmlns:p14="http://schemas.microsoft.com/office/powerpoint/2010/main" val="107625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556AE9-25EE-ADD6-EDC7-599F073F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Claude Code 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88E9C4-5955-697B-09A5-F5738B59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5588000" cy="29210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ターミナルで動く自律型の AI コーディングエージェント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800" dirty="0"/>
              <a:t>あなたが目的を日本語で伝えると、コードベースを読み、計画を立て、複数ファイルを編集し、テストまで実行する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800" dirty="0"/>
              <a:t>1行ずつ補完するのではなく、タスク単位で任せる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800" dirty="0"/>
              <a:t>変更はすべて差分として提示され、あなたが承認してから反映される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87A096-F342-1BF6-EEDD-CFA22E55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6CDA3-25F5-4F2E-BCE9-D339D7B4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4100B3-75E3-9662-59A0-F45EE972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3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67DBD3B-EC8D-420D-BC77-B4D92AF97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提供形態：ターミナル CLI（本日の主役・macOS / WSL で動作確認済み）／デスクトップアプリ／VS Code・JetBrains 拡張。開発元は Anthropic。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6553200" y="889000"/>
            <a:ext cx="1651000" cy="1016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あなた</a:t>
            </a:r>
          </a:p>
          <a:p>
            <a:pPr marL="0" indent="0" algn="ctr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指示・承認</a:t>
            </a:r>
          </a:p>
        </p:txBody>
      </p:sp>
      <p:sp>
        <p:nvSpPr>
          <p:cNvPr id="101" name="Shape 102"/>
          <p:cNvSpPr/>
          <p:nvPr/>
        </p:nvSpPr>
        <p:spPr>
          <a:xfrm>
            <a:off x="8280400" y="12446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⇄</a:t>
            </a:r>
          </a:p>
        </p:txBody>
      </p:sp>
      <p:sp>
        <p:nvSpPr>
          <p:cNvPr id="102" name="Shape 103"/>
          <p:cNvSpPr/>
          <p:nvPr/>
        </p:nvSpPr>
        <p:spPr>
          <a:xfrm>
            <a:off x="8864600" y="787400"/>
            <a:ext cx="2870200" cy="1219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200" b="1" dirty="0">
                <a:solidFill>
                  <a:srgbClr val="FFFFFF"/>
                </a:solidFill>
              </a:rPr>
              <a:t>Claude Code</a:t>
            </a:r>
          </a:p>
          <a:p>
            <a:pPr marL="0" indent="0" algn="ctr">
              <a:buNone/>
            </a:pPr>
            <a:r>
              <a:rPr kumimoji="1" lang="ja-JP" altLang="en-US" sz="1400" dirty="0">
                <a:solidFill>
                  <a:srgbClr val="FFFFFF"/>
                </a:solidFill>
              </a:rPr>
              <a:t>読む・考える・書く・実行する</a:t>
            </a:r>
          </a:p>
        </p:txBody>
      </p:sp>
      <p:sp>
        <p:nvSpPr>
          <p:cNvPr id="103" name="Shape 104"/>
          <p:cNvSpPr/>
          <p:nvPr/>
        </p:nvSpPr>
        <p:spPr>
          <a:xfrm>
            <a:off x="10033000" y="20066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↓</a:t>
            </a:r>
          </a:p>
        </p:txBody>
      </p:sp>
      <p:sp>
        <p:nvSpPr>
          <p:cNvPr id="104" name="Shape 105"/>
          <p:cNvSpPr/>
          <p:nvPr/>
        </p:nvSpPr>
        <p:spPr>
          <a:xfrm>
            <a:off x="6553200" y="2311400"/>
            <a:ext cx="16256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ファイル</a:t>
            </a:r>
          </a:p>
          <a:p>
            <a:pPr marL="0" indent="0" algn="ctr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読み書き・生成</a:t>
            </a:r>
          </a:p>
        </p:txBody>
      </p:sp>
      <p:sp>
        <p:nvSpPr>
          <p:cNvPr id="105" name="Shape 106"/>
          <p:cNvSpPr/>
          <p:nvPr/>
        </p:nvSpPr>
        <p:spPr>
          <a:xfrm>
            <a:off x="8331200" y="2311400"/>
            <a:ext cx="16256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シェル</a:t>
            </a:r>
          </a:p>
          <a:p>
            <a:pPr marL="0" indent="0" algn="ctr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pytest / pip / python</a:t>
            </a:r>
          </a:p>
        </p:txBody>
      </p:sp>
      <p:sp>
        <p:nvSpPr>
          <p:cNvPr id="106" name="Shape 107"/>
          <p:cNvSpPr/>
          <p:nvPr/>
        </p:nvSpPr>
        <p:spPr>
          <a:xfrm>
            <a:off x="10109200" y="2311400"/>
            <a:ext cx="16256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Git</a:t>
            </a:r>
          </a:p>
          <a:p>
            <a:pPr marL="0" indent="0" algn="ctr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branch / commit / PR</a:t>
            </a:r>
          </a:p>
        </p:txBody>
      </p:sp>
      <p:sp>
        <p:nvSpPr>
          <p:cNvPr id="107" name="Shape 108"/>
          <p:cNvSpPr/>
          <p:nvPr/>
        </p:nvSpPr>
        <p:spPr>
          <a:xfrm>
            <a:off x="457200" y="3810000"/>
            <a:ext cx="5461000" cy="1651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wrap="square" lIns="177800" tIns="177800" rIns="177800" bIns="1778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444444"/>
                </a:solidFill>
              </a:rPr>
              <a:t>コード補完ツール（Copilot 等）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カーソル位置の次の数行を予測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設計・実行・検証は人間が行う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エディタの中だけで完結</a:t>
            </a:r>
          </a:p>
        </p:txBody>
      </p:sp>
      <p:sp>
        <p:nvSpPr>
          <p:cNvPr id="108" name="Shape 109"/>
          <p:cNvSpPr/>
          <p:nvPr/>
        </p:nvSpPr>
        <p:spPr>
          <a:xfrm>
            <a:off x="6273800" y="3810000"/>
            <a:ext cx="5461000" cy="1651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Claude Code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タスク全体（調査→実装→テスト）を委任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コマンドを実行して結果を見て自己修正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600" dirty="0"/>
              <a:t>CLAUDE.md / Skills で研究室の知識を持たせられる</a:t>
            </a:r>
          </a:p>
        </p:txBody>
      </p:sp>
    </p:spTree>
    <p:extLst>
      <p:ext uri="{BB962C8B-B14F-4D97-AF65-F5344CB8AC3E}">
        <p14:creationId xmlns:p14="http://schemas.microsoft.com/office/powerpoint/2010/main" val="412396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B0278-1F49-D1FD-A743-657DAC07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研究室でなぜ Claude Code を使うか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436F12-186E-9F93-EB9F-710BC113F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508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研究のコーディングは「書く時間」より「調べる・直す・整える時間」が長い。そこを丸ごと任せられる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6D0097-C833-9072-767C-A51448E4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EF54F9-A2E4-9563-4ADA-451D052D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375A02-0F31-1FBC-FA16-AFE3AAFE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4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0EF9874-4AD3-5DAC-7A9C-68A6A82CB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PI の実感：コードを書く速度が上がるだけでなく「面倒で先送りしていた整備作業」が進むようになる。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4224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解析スクリプトの作成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「この CSV を読み、群ごとに平均±SDを出して図にして」で pandas + matplotlib のコードが出てくる</a:t>
            </a:r>
          </a:p>
        </p:txBody>
      </p:sp>
      <p:sp>
        <p:nvSpPr>
          <p:cNvPr id="101" name="Shape 102"/>
          <p:cNvSpPr/>
          <p:nvPr/>
        </p:nvSpPr>
        <p:spPr>
          <a:xfrm>
            <a:off x="6197600" y="14224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既存コードの理解・改修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先輩が残した数千行のコードを読ませ、構造を説明させ、安全に機能追加する</a:t>
            </a:r>
          </a:p>
        </p:txBody>
      </p:sp>
      <p:sp>
        <p:nvSpPr>
          <p:cNvPr id="102" name="Shape 103"/>
          <p:cNvSpPr/>
          <p:nvPr/>
        </p:nvSpPr>
        <p:spPr>
          <a:xfrm>
            <a:off x="457200" y="27940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図・表の整形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論文投稿規定（フォント・サイズ・カラー）に合わせて全図を一括修正</a:t>
            </a:r>
          </a:p>
        </p:txBody>
      </p:sp>
      <p:sp>
        <p:nvSpPr>
          <p:cNvPr id="103" name="Shape 104"/>
          <p:cNvSpPr/>
          <p:nvPr/>
        </p:nvSpPr>
        <p:spPr>
          <a:xfrm>
            <a:off x="6197600" y="27940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テスト・再現性の確保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pytest の追加、環境ファイル（pyproject / requirements）の整備、README の生成</a:t>
            </a:r>
          </a:p>
        </p:txBody>
      </p:sp>
      <p:sp>
        <p:nvSpPr>
          <p:cNvPr id="104" name="Shape 105"/>
          <p:cNvSpPr/>
          <p:nvPr/>
        </p:nvSpPr>
        <p:spPr>
          <a:xfrm>
            <a:off x="457200" y="41656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定型作業の自動化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データ整形・レポート生成・コミットメッセージなど、毎回同じ手順を Skill 化</a:t>
            </a:r>
          </a:p>
        </p:txBody>
      </p:sp>
      <p:sp>
        <p:nvSpPr>
          <p:cNvPr id="105" name="Shape 106"/>
          <p:cNvSpPr/>
          <p:nvPr/>
        </p:nvSpPr>
        <p:spPr>
          <a:xfrm>
            <a:off x="6197600" y="4165600"/>
            <a:ext cx="5537200" cy="1244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レビューと学習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書いたコードの問題点を説明させる。学生の自習にも使える（ただし理解せず貼るのは禁止）</a:t>
            </a:r>
          </a:p>
        </p:txBody>
      </p:sp>
    </p:spTree>
    <p:extLst>
      <p:ext uri="{BB962C8B-B14F-4D97-AF65-F5344CB8AC3E}">
        <p14:creationId xmlns:p14="http://schemas.microsoft.com/office/powerpoint/2010/main" val="242455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329C7-FE41-10E8-2EB8-B4062F4F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§1 セットアップ：Claude Code と Antigravity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ACCCF8-D92E-E6C1-09D0-FA990053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どちらもネイティブインストーラ 1 行＋ブラウザ認証で完了。手元の環境に合う方を選ぶ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BF6D3-ABBB-526A-7FC2-B17C9752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61DF0-9B25-8CA4-A8E4-01B91CC4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91819-B1BA-D039-2918-CFED90D7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5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1F0FD51-60D3-3268-A789-02247DFDC9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HOST:PORT は当日板書。Antigravity は AGENTS.md に「@CLAUDE.md を読む」と書けばルールを共用できる。詳しい対応表は次スライド。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2438400" y="1320800"/>
            <a:ext cx="4064000" cy="508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FFFFFF"/>
                </a:solidFill>
              </a:rPr>
              <a:t>Claude Code</a:t>
            </a:r>
          </a:p>
          <a:p>
            <a:pPr marL="0" indent="0" algn="ctr"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有料プラン（Pro 以上）または API キー</a:t>
            </a:r>
          </a:p>
        </p:txBody>
      </p:sp>
      <p:sp>
        <p:nvSpPr>
          <p:cNvPr id="101" name="Shape 102"/>
          <p:cNvSpPr/>
          <p:nvPr/>
        </p:nvSpPr>
        <p:spPr>
          <a:xfrm>
            <a:off x="6578600" y="1320800"/>
            <a:ext cx="5156200" cy="508000"/>
          </a:xfrm>
          <a:prstGeom prst="roundRect">
            <a:avLst>
              <a:gd name="adj" fmla="val 6000"/>
            </a:avLst>
          </a:prstGeom>
          <a:solidFill>
            <a:srgbClr val="1E6B3F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FFFFFF"/>
                </a:solidFill>
              </a:rPr>
              <a:t>Antigravity CLI（agy）</a:t>
            </a:r>
          </a:p>
          <a:p>
            <a:pPr marL="0" indent="0" algn="ctr"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Google アカウントのみ（無料枠・カード不要）</a:t>
            </a:r>
          </a:p>
        </p:txBody>
      </p:sp>
      <p:sp>
        <p:nvSpPr>
          <p:cNvPr id="102" name="Shape 103"/>
          <p:cNvSpPr/>
          <p:nvPr/>
        </p:nvSpPr>
        <p:spPr>
          <a:xfrm>
            <a:off x="457200" y="1905000"/>
            <a:ext cx="457200" cy="4826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hape 104"/>
          <p:cNvSpPr/>
          <p:nvPr/>
        </p:nvSpPr>
        <p:spPr>
          <a:xfrm>
            <a:off x="965200" y="1905000"/>
            <a:ext cx="1397000" cy="482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プロキシ</a:t>
            </a:r>
          </a:p>
        </p:txBody>
      </p:sp>
      <p:sp>
        <p:nvSpPr>
          <p:cNvPr id="104" name="Shape 105"/>
          <p:cNvSpPr/>
          <p:nvPr/>
        </p:nvSpPr>
        <p:spPr>
          <a:xfrm>
            <a:off x="2438400" y="1905000"/>
            <a:ext cx="9296400" cy="482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export HTTPS_PROXY=http://HOST:PORT</a:t>
            </a:r>
            <a:r>
              <a:rPr kumimoji="1" lang="ja-JP" altLang="en-US" sz="1400" dirty="0">
                <a:solidFill>
                  <a:srgbClr val="9FB4D9"/>
                </a:solidFill>
                <a:latin typeface="Consolas"/>
                <a:ea typeface="游ゴシック"/>
              </a:rPr>
              <a:t>   # ~/.zshrc（macOS）/ ~/.bashrc（WSL）に書く</a:t>
            </a:r>
          </a:p>
        </p:txBody>
      </p:sp>
      <p:sp>
        <p:nvSpPr>
          <p:cNvPr id="105" name="Shape 106"/>
          <p:cNvSpPr/>
          <p:nvPr/>
        </p:nvSpPr>
        <p:spPr>
          <a:xfrm>
            <a:off x="457200" y="2463800"/>
            <a:ext cx="457200" cy="9144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6" name="Shape 107"/>
          <p:cNvSpPr/>
          <p:nvPr/>
        </p:nvSpPr>
        <p:spPr>
          <a:xfrm>
            <a:off x="965200" y="2463800"/>
            <a:ext cx="1397000" cy="9144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インストール</a:t>
            </a:r>
          </a:p>
          <a:p>
            <a:pPr marL="0" indent="0">
              <a:buNone/>
            </a:pPr>
            <a:r>
              <a:rPr kumimoji="1" lang="ja-JP" altLang="en-US" sz="1200" dirty="0">
                <a:solidFill>
                  <a:srgbClr val="444444"/>
                </a:solidFill>
              </a:rPr>
              <a:t>macOS / WSL</a:t>
            </a:r>
          </a:p>
        </p:txBody>
      </p:sp>
      <p:sp>
        <p:nvSpPr>
          <p:cNvPr id="107" name="Shape 108"/>
          <p:cNvSpPr/>
          <p:nvPr/>
        </p:nvSpPr>
        <p:spPr>
          <a:xfrm>
            <a:off x="2438400" y="2463800"/>
            <a:ext cx="406400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curl --proxy http://HOST:PORT -fsSL \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  https://claude.ai/install.sh | bash</a:t>
            </a:r>
          </a:p>
        </p:txBody>
      </p:sp>
      <p:sp>
        <p:nvSpPr>
          <p:cNvPr id="108" name="Shape 109"/>
          <p:cNvSpPr/>
          <p:nvPr/>
        </p:nvSpPr>
        <p:spPr>
          <a:xfrm>
            <a:off x="6578600" y="2463800"/>
            <a:ext cx="515620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curl --proxy http://HOST:PORT -fsSL \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  https://antigravity.google/cli/install.sh | bash</a:t>
            </a:r>
          </a:p>
        </p:txBody>
      </p:sp>
      <p:sp>
        <p:nvSpPr>
          <p:cNvPr id="109" name="Shape 110"/>
          <p:cNvSpPr/>
          <p:nvPr/>
        </p:nvSpPr>
        <p:spPr>
          <a:xfrm>
            <a:off x="457200" y="3454400"/>
            <a:ext cx="4572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0" name="Shape 111"/>
          <p:cNvSpPr/>
          <p:nvPr/>
        </p:nvSpPr>
        <p:spPr>
          <a:xfrm>
            <a:off x="965200" y="3454400"/>
            <a:ext cx="1397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確認・認証</a:t>
            </a:r>
          </a:p>
          <a:p>
            <a:pPr marL="0" indent="0">
              <a:buNone/>
            </a:pPr>
            <a:r>
              <a:rPr kumimoji="1" lang="ja-JP" altLang="en-US" sz="1200" dirty="0">
                <a:solidFill>
                  <a:srgbClr val="444444"/>
                </a:solidFill>
              </a:rPr>
              <a:t>初回はブラウザ</a:t>
            </a:r>
          </a:p>
        </p:txBody>
      </p:sp>
      <p:sp>
        <p:nvSpPr>
          <p:cNvPr id="111" name="Shape 112"/>
          <p:cNvSpPr/>
          <p:nvPr/>
        </p:nvSpPr>
        <p:spPr>
          <a:xfrm>
            <a:off x="2438400" y="3454400"/>
            <a:ext cx="40640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claude --version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claude doctor</a:t>
            </a:r>
            <a:r>
              <a:rPr kumimoji="1" lang="ja-JP" altLang="en-US" sz="1400" dirty="0">
                <a:solidFill>
                  <a:srgbClr val="9FB4D9"/>
                </a:solidFill>
                <a:latin typeface="Consolas"/>
                <a:ea typeface="游ゴシック"/>
              </a:rPr>
              <a:t>   # 診断</a:t>
            </a:r>
          </a:p>
        </p:txBody>
      </p:sp>
      <p:sp>
        <p:nvSpPr>
          <p:cNvPr id="112" name="Shape 113"/>
          <p:cNvSpPr/>
          <p:nvPr/>
        </p:nvSpPr>
        <p:spPr>
          <a:xfrm>
            <a:off x="6578600" y="3454400"/>
            <a:ext cx="51562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agy --version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agy</a:t>
            </a:r>
            <a:r>
              <a:rPr kumimoji="1" lang="ja-JP" altLang="en-US" sz="1400" dirty="0">
                <a:solidFill>
                  <a:srgbClr val="9FB4D9"/>
                </a:solidFill>
                <a:latin typeface="Consolas"/>
                <a:ea typeface="游ゴシック"/>
              </a:rPr>
              <a:t>   # /model で Claude Sonnet 4.6</a:t>
            </a:r>
          </a:p>
        </p:txBody>
      </p:sp>
      <p:sp>
        <p:nvSpPr>
          <p:cNvPr id="113" name="Shape 114"/>
          <p:cNvSpPr/>
          <p:nvPr/>
        </p:nvSpPr>
        <p:spPr>
          <a:xfrm>
            <a:off x="457200" y="4241800"/>
            <a:ext cx="457200" cy="762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kumimoji="1" lang="ja-JP" altLang="en-US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hape 115"/>
          <p:cNvSpPr/>
          <p:nvPr/>
        </p:nvSpPr>
        <p:spPr>
          <a:xfrm>
            <a:off x="965200" y="4241800"/>
            <a:ext cx="1397000" cy="762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01600" tIns="25400" rIns="101600" bIns="254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取得</a:t>
            </a:r>
          </a:p>
        </p:txBody>
      </p:sp>
      <p:sp>
        <p:nvSpPr>
          <p:cNvPr id="115" name="Shape 116"/>
          <p:cNvSpPr/>
          <p:nvPr/>
        </p:nvSpPr>
        <p:spPr>
          <a:xfrm>
            <a:off x="2438400" y="4241800"/>
            <a:ext cx="9296400" cy="76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50800" rIns="101600" bIns="508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200" dirty="0">
                <a:solidFill>
                  <a:srgbClr val="E6E6E6"/>
                </a:solidFill>
                <a:latin typeface="Consolas"/>
                <a:ea typeface="游ゴシック"/>
              </a:rPr>
              <a:t>git clone https://github.com/&lt;GitHub アカウント名&gt;/How_to_Code_with_CLAUDE_kobayashi.git sample-analysis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200" dirty="0">
                <a:solidFill>
                  <a:srgbClr val="E6E6E6"/>
                </a:solidFill>
                <a:latin typeface="Consolas"/>
                <a:ea typeface="游ゴシック"/>
              </a:rPr>
              <a:t>cd sample-analysis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200" dirty="0">
                <a:solidFill>
                  <a:srgbClr val="F5C400"/>
                </a:solidFill>
                <a:latin typeface="Consolas"/>
                <a:ea typeface="游ゴシック"/>
              </a:rPr>
              <a:t># claude / agy の起動はハンズオン①（P8）で行う。ここでは取得まで</a:t>
            </a:r>
          </a:p>
        </p:txBody>
      </p:sp>
      <p:sp>
        <p:nvSpPr>
          <p:cNvPr id="117" name="Shape 118"/>
          <p:cNvSpPr/>
          <p:nvPr/>
        </p:nvSpPr>
        <p:spPr>
          <a:xfrm>
            <a:off x="457200" y="5080000"/>
            <a:ext cx="6045200" cy="5334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9525">
            <a:solidFill>
              <a:srgbClr val="1F3C88"/>
            </a:solidFill>
          </a:ln>
        </p:spPr>
        <p:txBody>
          <a:bodyPr wrap="square" lIns="127000" tIns="38100" rIns="127000" bIns="381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Claude Code の要件</a:t>
            </a:r>
          </a:p>
          <a:p>
            <a:pPr marL="0" indent="0">
              <a:buNone/>
            </a:pPr>
            <a:r>
              <a:rPr kumimoji="1" lang="ja-JP" altLang="en-US" sz="1300" dirty="0">
                <a:solidFill>
                  <a:srgbClr val="444444"/>
                </a:solidFill>
              </a:rPr>
              <a:t>Pro 以上のプラン、または Console の API キー</a:t>
            </a:r>
          </a:p>
        </p:txBody>
      </p:sp>
      <p:sp>
        <p:nvSpPr>
          <p:cNvPr id="118" name="Shape 119"/>
          <p:cNvSpPr/>
          <p:nvPr/>
        </p:nvSpPr>
        <p:spPr>
          <a:xfrm>
            <a:off x="6578600" y="5080000"/>
            <a:ext cx="5156200" cy="533400"/>
          </a:xfrm>
          <a:prstGeom prst="roundRect">
            <a:avLst>
              <a:gd name="adj" fmla="val 6000"/>
            </a:avLst>
          </a:prstGeom>
          <a:solidFill>
            <a:srgbClr val="EAF5EE"/>
          </a:solidFill>
          <a:ln w="9525">
            <a:solidFill>
              <a:srgbClr val="1E6B3F"/>
            </a:solidFill>
          </a:ln>
        </p:spPr>
        <p:txBody>
          <a:bodyPr wrap="square" lIns="127000" tIns="38100" rIns="127000" bIns="38100" anchor="ctr">
            <a:noAutofit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E6B3F"/>
                </a:solidFill>
              </a:rPr>
              <a:t>Antigravity の注意</a:t>
            </a:r>
          </a:p>
          <a:p>
            <a:pPr marL="0" indent="0">
              <a:buNone/>
            </a:pPr>
            <a:r>
              <a:rPr kumimoji="1" lang="ja-JP" altLang="en-US" sz="1300" dirty="0">
                <a:solidFill>
                  <a:srgbClr val="444444"/>
                </a:solidFill>
              </a:rPr>
              <a:t>週次クォータ制で上限は変動。通常は Sonnet を使う</a:t>
            </a:r>
          </a:p>
        </p:txBody>
      </p:sp>
    </p:spTree>
    <p:extLst>
      <p:ext uri="{BB962C8B-B14F-4D97-AF65-F5344CB8AC3E}">
        <p14:creationId xmlns:p14="http://schemas.microsoft.com/office/powerpoint/2010/main" val="273296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4F425-92DF-316C-6639-3D0E3B23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Claude Code と Antigravity の対応表（両方の参加者向け）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8975E9-AD77-80F3-EB00-AA8DDAE2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道具は違っても「ルールをファイルに書く／手順を Skill にする／役割を分ける」の考え方は同じ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C7882E-32B0-94AE-67CC-F30B0534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88F0F-3D56-ADD0-980F-E80DB1E1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8A4EF7-3017-E622-8DDE-9ADA42EE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6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9F7B990-8D40-2678-9E28-16369D25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注意：Antigravity は 2026 年 8 月に 2.0 へ移行中（旧 IDE も当面利用可）。無料枠の上限は変わりうるので、当日は Sonnet を使い Opus は必要なときだけ。</a:t>
            </a:r>
          </a:p>
        </p:txBody>
      </p:sp>
      <p:graphicFrame>
        <p:nvGraphicFramePr>
          <p:cNvPr id="200" name="Cm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592950"/>
              </p:ext>
            </p:extLst>
          </p:nvPr>
        </p:nvGraphicFramePr>
        <p:xfrm>
          <a:off x="457200" y="1346200"/>
          <a:ext cx="11277600" cy="4330800"/>
        </p:xfrm>
        <a:graphic>
          <a:graphicData uri="http://schemas.openxmlformats.org/drawingml/2006/table">
            <a:tbl>
              <a:tblPr firstRow="1"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FFFFFF"/>
                          </a:solidFill>
                        </a:rPr>
                        <a:t>Claude Code（有料プラン）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FFFFFF"/>
                          </a:solidFill>
                        </a:rPr>
                        <a:t>Antigravity（無料枠あり）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動作形態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ターミナル常駐の CLI（VS Code 拡張もあり）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デスクトップアプリ／CLI。Google アカウントでサインイン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使えるモデル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Claude（Sonnet / Opus）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Gemini・Claude Sonnet/Opus・GPT-OSS を選択可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プロジェクトのルール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CLAUDE.md（/init で生成）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AGENTS.md または .agents/rules/（@CLAUDE.md で参照も可）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個人のルール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~/.claude/CLAUDE.md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~/.gemini/GEMINI.md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Skills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.claude/skills/&lt;名前&gt;/SKILL.md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.agents/skills/&lt;名前&gt;/SKILL.md（同じ SKILL.md 形式）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Subagents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  <a:latin typeface="Consolas"/>
                          <a:ea typeface="游ゴシック"/>
                        </a:rPr>
                        <a:t>.claude/agents/&lt;名前&gt;.md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対応あり（定義形式は異なる。本日はデモ観察で OK）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差分の承認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ターミナルで y/n・差分表示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アプリ内の差分ビューで承認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b="1" dirty="0">
                          <a:solidFill>
                            <a:srgbClr val="1F3C88"/>
                          </a:solidFill>
                        </a:rPr>
                        <a:t>ハンズオン①〜④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すべて実施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00" dirty="0">
                          <a:solidFill>
                            <a:srgbClr val="444444"/>
                          </a:solidFill>
                        </a:rPr>
                        <a:t>①②③は実施可、④はデモ観察＋概念理解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24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329C7-FE41-10E8-2EB8-B4062F4F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Python 環境の準備：venv / uv / conda のどれでも OK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ACCCF8-D92E-E6C1-09D0-FA990053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sample-analysis の中で、3 通りのどれかで環境構築（依存は pyproject.toml）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BF6D3-ABBB-526A-7FC2-B17C9752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61DF0-9B25-8CA4-A8E4-01B91CC4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91819-B1BA-D039-2918-CFED90D7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7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1F0FD51-60D3-3268-A789-02247DFDC9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HOST:PORT は当日板書。プロキシは export HTTPS_PROXY=http://HOST:PORT を ~/.zshrc（macOS）/ ~/.bashrc（WSL）に書いておくと毎回の指定が不要。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762000" cy="10414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400" b="1" dirty="0">
                <a:solidFill>
                  <a:srgbClr val="FFFFFF"/>
                </a:solidFill>
              </a:rPr>
              <a:t>venv</a:t>
            </a:r>
          </a:p>
        </p:txBody>
      </p:sp>
      <p:sp>
        <p:nvSpPr>
          <p:cNvPr id="101" name="Shape 102"/>
          <p:cNvSpPr/>
          <p:nvPr/>
        </p:nvSpPr>
        <p:spPr>
          <a:xfrm>
            <a:off x="1295400" y="1346200"/>
            <a:ext cx="2997200" cy="10414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50800" rIns="101600" bIns="50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標準機能で完結（推奨）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追加導入不要。Python 3.9 以上</a:t>
            </a:r>
          </a:p>
        </p:txBody>
      </p:sp>
      <p:sp>
        <p:nvSpPr>
          <p:cNvPr id="102" name="Shape 103"/>
          <p:cNvSpPr/>
          <p:nvPr/>
        </p:nvSpPr>
        <p:spPr>
          <a:xfrm>
            <a:off x="4368800" y="1346200"/>
            <a:ext cx="7366000" cy="1041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63500" rIns="127000" bIns="635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python3 -m venv .venv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source .venv/bin/activate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pip install --proxy http://HOST:PORT -e . pytest ruff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# （stats.py の実行時には）python stats.py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463800"/>
            <a:ext cx="762000" cy="10414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400" b="1" dirty="0">
                <a:solidFill>
                  <a:srgbClr val="FFFFFF"/>
                </a:solidFill>
              </a:rPr>
              <a:t>uv</a:t>
            </a:r>
          </a:p>
        </p:txBody>
      </p:sp>
      <p:sp>
        <p:nvSpPr>
          <p:cNvPr id="104" name="Shape 105"/>
          <p:cNvSpPr/>
          <p:nvPr/>
        </p:nvSpPr>
        <p:spPr>
          <a:xfrm>
            <a:off x="1295400" y="2463800"/>
            <a:ext cx="2997200" cy="10414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50800" rIns="101600" bIns="50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速い・Python 本体も管理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uv sync で .venv を自動作成</a:t>
            </a:r>
          </a:p>
        </p:txBody>
      </p:sp>
      <p:sp>
        <p:nvSpPr>
          <p:cNvPr id="105" name="Shape 106"/>
          <p:cNvSpPr/>
          <p:nvPr/>
        </p:nvSpPr>
        <p:spPr>
          <a:xfrm>
            <a:off x="4368800" y="2463800"/>
            <a:ext cx="7366000" cy="1041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63500" rIns="127000" bIns="635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curl --proxy http://HOST:PORT -LsSf astral.sh/uv/install.sh | sh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uv sync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# （stats.py の実行時には）uv run python stats.py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3581400"/>
            <a:ext cx="762000" cy="10414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400" b="1" dirty="0">
                <a:solidFill>
                  <a:srgbClr val="FFFFFF"/>
                </a:solidFill>
              </a:rPr>
              <a:t>conda</a:t>
            </a:r>
          </a:p>
        </p:txBody>
      </p:sp>
      <p:sp>
        <p:nvSpPr>
          <p:cNvPr id="107" name="Shape 108"/>
          <p:cNvSpPr/>
          <p:nvPr/>
        </p:nvSpPr>
        <p:spPr>
          <a:xfrm>
            <a:off x="1295400" y="3581400"/>
            <a:ext cx="2997200" cy="10414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50800" rIns="101600" bIns="50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バイナリ依存が多い人向け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miniforge 推奨。env 内で pip</a:t>
            </a:r>
          </a:p>
        </p:txBody>
      </p:sp>
      <p:sp>
        <p:nvSpPr>
          <p:cNvPr id="108" name="Shape 109"/>
          <p:cNvSpPr/>
          <p:nvPr/>
        </p:nvSpPr>
        <p:spPr>
          <a:xfrm>
            <a:off x="4368800" y="3581400"/>
            <a:ext cx="7366000" cy="1041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63500" rIns="127000" bIns="635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conda create -n sample-analysis python=3.11 -y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conda activate sample-analysis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pip install --proxy http://HOST:PORT -e . pytest ruff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# （stats.py の実行時には）python stats.py</a:t>
            </a:r>
          </a:p>
        </p:txBody>
      </p:sp>
      <p:sp>
        <p:nvSpPr>
          <p:cNvPr id="120" name="AntigravityBox"/>
          <p:cNvSpPr/>
          <p:nvPr/>
        </p:nvSpPr>
        <p:spPr>
          <a:xfrm>
            <a:off x="457200" y="4775200"/>
            <a:ext cx="11277600" cy="736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1F3C88"/>
            </a:solidFill>
          </a:ln>
        </p:spPr>
        <p:txBody>
          <a:bodyPr wrap="square" lIns="152400" tIns="50800" rIns="152400" bIns="508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環境は CLAUDE.md に書いておく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「Python は .venv/bin/python（conda なら env sample-analysis）を使う」「pip / uv add / conda install は ask」</a:t>
            </a:r>
          </a:p>
        </p:txBody>
      </p:sp>
    </p:spTree>
    <p:extLst>
      <p:ext uri="{BB962C8B-B14F-4D97-AF65-F5344CB8AC3E}">
        <p14:creationId xmlns:p14="http://schemas.microsoft.com/office/powerpoint/2010/main" val="122307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7D5D0-77DF-1EEC-AB8A-FB636657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ハンズオン ①：起動して /init 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9F24C7-96C2-C483-AFEE-9766657E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ゴール：自分の Python プロジェクトで Claude Code を起動し、CLAUDE.md を自動生成して中身を読む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2BC105-F999-C6EF-010C-B970FFDD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97DB2-B7A7-962E-71ED-39775828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E8A6D5-39CB-A59A-0C1F-70EA03F5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8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8C2B41C-8A5F-F470-BD67-7F5A4682C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537200"/>
            <a:ext cx="11277600" cy="5842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sample-analysis：CSV 読み込み（load_data.py）＋ 集計（stats.py）＋ pytest 1本 ＋ pyproject.toml の最小構成。P5 で git clone 済みのフォルダを使います。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b="1" dirty="0">
                <a:solidFill>
                  <a:srgbClr val="2E8B57"/>
                </a:solidFill>
              </a:rPr>
              <a:t>Antigravity の場合：</a:t>
            </a:r>
            <a:r>
              <a:rPr kumimoji="1" lang="ja-JP" altLang="en-US" sz="1400" dirty="0">
                <a:solidFill>
                  <a:srgbClr val="444444"/>
                </a:solidFill>
              </a:rPr>
              <a:t>フォルダを開いて「このプロジェクトの構成を調べて AGENTS.md を作って」と頼む（/init の代わり）。生成物を読む作業は同じ。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71600"/>
            <a:ext cx="508000" cy="889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Shape 102"/>
          <p:cNvSpPr/>
          <p:nvPr/>
        </p:nvSpPr>
        <p:spPr>
          <a:xfrm>
            <a:off x="1041400" y="1371600"/>
            <a:ext cx="2997200" cy="889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配布した sample-analysis リポジトリに移動して起動</a:t>
            </a:r>
          </a:p>
        </p:txBody>
      </p:sp>
      <p:sp>
        <p:nvSpPr>
          <p:cNvPr id="102" name="Shape 103"/>
          <p:cNvSpPr/>
          <p:nvPr/>
        </p:nvSpPr>
        <p:spPr>
          <a:xfrm>
            <a:off x="4114800" y="1371600"/>
            <a:ext cx="3429000" cy="88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cd sample-analysis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claude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387600"/>
            <a:ext cx="508000" cy="889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1041400" y="2387600"/>
            <a:ext cx="2997200" cy="889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プロジェクトを解析させて CLAUDE.md を生成</a:t>
            </a:r>
          </a:p>
        </p:txBody>
      </p:sp>
      <p:sp>
        <p:nvSpPr>
          <p:cNvPr id="105" name="Shape 106"/>
          <p:cNvSpPr/>
          <p:nvPr/>
        </p:nvSpPr>
        <p:spPr>
          <a:xfrm>
            <a:off x="4114800" y="2387600"/>
            <a:ext cx="3429000" cy="88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/init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3403600"/>
            <a:ext cx="508000" cy="889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Shape 108"/>
          <p:cNvSpPr/>
          <p:nvPr/>
        </p:nvSpPr>
        <p:spPr>
          <a:xfrm>
            <a:off x="1041400" y="3403600"/>
            <a:ext cx="2997200" cy="889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生成された内容を確認（別ターミナルでも OK）</a:t>
            </a:r>
          </a:p>
        </p:txBody>
      </p:sp>
      <p:sp>
        <p:nvSpPr>
          <p:cNvPr id="108" name="Shape 109"/>
          <p:cNvSpPr/>
          <p:nvPr/>
        </p:nvSpPr>
        <p:spPr>
          <a:xfrm>
            <a:off x="4114800" y="3403600"/>
            <a:ext cx="3429000" cy="88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cat CLAUDE.md</a:t>
            </a:r>
          </a:p>
        </p:txBody>
      </p:sp>
      <p:sp>
        <p:nvSpPr>
          <p:cNvPr id="109" name="Shape 110"/>
          <p:cNvSpPr/>
          <p:nvPr/>
        </p:nvSpPr>
        <p:spPr>
          <a:xfrm>
            <a:off x="457200" y="4419600"/>
            <a:ext cx="508000" cy="889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Shape 111"/>
          <p:cNvSpPr/>
          <p:nvPr/>
        </p:nvSpPr>
        <p:spPr>
          <a:xfrm>
            <a:off x="1041400" y="4419600"/>
            <a:ext cx="2997200" cy="889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Claude に質問してみる</a:t>
            </a:r>
          </a:p>
        </p:txBody>
      </p:sp>
      <p:sp>
        <p:nvSpPr>
          <p:cNvPr id="111" name="Shape 112"/>
          <p:cNvSpPr/>
          <p:nvPr/>
        </p:nvSpPr>
        <p:spPr>
          <a:xfrm>
            <a:off x="4114800" y="4419600"/>
            <a:ext cx="3429000" cy="88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このプロジェクトの構成と、テストの実行方法を教えて</a:t>
            </a:r>
          </a:p>
        </p:txBody>
      </p:sp>
      <p:sp>
        <p:nvSpPr>
          <p:cNvPr id="112" name="Shape 113"/>
          <p:cNvSpPr/>
          <p:nvPr/>
        </p:nvSpPr>
        <p:spPr>
          <a:xfrm>
            <a:off x="7823200" y="1371600"/>
            <a:ext cx="39116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31A"/>
            </a:solidFill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E8731A"/>
                </a:solidFill>
              </a:rPr>
              <a:t>観察ポイント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500" dirty="0"/>
              <a:t>起動時に「このフォルダを信頼しますか？」と聞かれる → 信頼できるリポジトリのみ Yes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500" dirty="0"/>
              <a:t>/init は README・pyproject・ディレクトリ構造を読んで CLAUDE.md を書く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500" dirty="0"/>
              <a:t>生成物は「たたき台」。研究室固有のルールは §3 で手で追記する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kumimoji="1" lang="ja-JP" altLang="en-US" sz="1500" dirty="0"/>
              <a:t>Esc で中断、Ctrl+C ×2 で終了</a:t>
            </a:r>
          </a:p>
        </p:txBody>
      </p:sp>
    </p:spTree>
    <p:extLst>
      <p:ext uri="{BB962C8B-B14F-4D97-AF65-F5344CB8AC3E}">
        <p14:creationId xmlns:p14="http://schemas.microsoft.com/office/powerpoint/2010/main" val="315542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779F7-8833-0E78-9BB3-447A8ED9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§2 基本操作：1 回のセッションはこう流れる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69DCDE-738E-E59E-CF03-B7391B1F3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「指示 → 調査 → 計画 → 差分提示 → 承認 → 実行・検証」のループ。承認の関門はあなたが握っている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62B9E-21AB-91E0-A4D8-46EFA419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B77B34-3116-B665-0C3F-958C1226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56B0E9-FE9B-F7B4-A53B-32DBE619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9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8A1EB27-9319-626A-78A3-E675D21C2A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700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その他の操作：Esc で生成を中断／Ctrl+C を 2 回で終了／「!」始まりでシェルコマンドを直接実行／「@ファイル名」で特定ファイルを参照させる／画像はドラッグ＆ドロップで貼れる。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71600"/>
            <a:ext cx="1905000" cy="889000"/>
          </a:xfrm>
          <a:prstGeom prst="homePlate">
            <a:avLst/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指示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目的・完了条件</a:t>
            </a:r>
          </a:p>
        </p:txBody>
      </p:sp>
      <p:sp>
        <p:nvSpPr>
          <p:cNvPr id="101" name="Shape 102"/>
          <p:cNvSpPr/>
          <p:nvPr/>
        </p:nvSpPr>
        <p:spPr>
          <a:xfrm>
            <a:off x="2336800" y="1371600"/>
            <a:ext cx="1905000" cy="889000"/>
          </a:xfrm>
          <a:prstGeom prst="chevron">
            <a:avLst/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調査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ファイル読取</a:t>
            </a:r>
          </a:p>
        </p:txBody>
      </p:sp>
      <p:sp>
        <p:nvSpPr>
          <p:cNvPr id="102" name="Shape 103"/>
          <p:cNvSpPr/>
          <p:nvPr/>
        </p:nvSpPr>
        <p:spPr>
          <a:xfrm>
            <a:off x="4216400" y="1371600"/>
            <a:ext cx="1905000" cy="889000"/>
          </a:xfrm>
          <a:prstGeom prst="chevron">
            <a:avLst/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計画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手順を提示</a:t>
            </a:r>
          </a:p>
        </p:txBody>
      </p:sp>
      <p:sp>
        <p:nvSpPr>
          <p:cNvPr id="103" name="Shape 104"/>
          <p:cNvSpPr/>
          <p:nvPr/>
        </p:nvSpPr>
        <p:spPr>
          <a:xfrm>
            <a:off x="6096000" y="1371600"/>
            <a:ext cx="1905000" cy="889000"/>
          </a:xfrm>
          <a:prstGeom prst="chevron">
            <a:avLst/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差分提示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diff を表示</a:t>
            </a:r>
          </a:p>
        </p:txBody>
      </p:sp>
      <p:sp>
        <p:nvSpPr>
          <p:cNvPr id="104" name="Shape 105"/>
          <p:cNvSpPr/>
          <p:nvPr/>
        </p:nvSpPr>
        <p:spPr>
          <a:xfrm>
            <a:off x="7975600" y="1371600"/>
            <a:ext cx="1905000" cy="889000"/>
          </a:xfrm>
          <a:prstGeom prst="chevron">
            <a:avLst/>
          </a:prstGeom>
          <a:solidFill>
            <a:srgbClr val="A94700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承認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Yes / No</a:t>
            </a:r>
          </a:p>
        </p:txBody>
      </p:sp>
      <p:sp>
        <p:nvSpPr>
          <p:cNvPr id="105" name="Shape 106"/>
          <p:cNvSpPr/>
          <p:nvPr/>
        </p:nvSpPr>
        <p:spPr>
          <a:xfrm>
            <a:off x="9855200" y="1371600"/>
            <a:ext cx="1905000" cy="889000"/>
          </a:xfrm>
          <a:prstGeom prst="chevron">
            <a:avLst/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実行</a:t>
            </a:r>
          </a:p>
          <a:p>
            <a:pPr marL="0" indent="0" algn="ctr">
              <a:buNone/>
            </a:pPr>
            <a:r>
              <a:rPr kumimoji="1" lang="ja-JP" altLang="en-US" sz="1200" dirty="0">
                <a:solidFill>
                  <a:srgbClr val="FFFFFF"/>
                </a:solidFill>
              </a:rPr>
              <a:t>編集・pytest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2489200"/>
            <a:ext cx="5537200" cy="2997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権限確認（Permission）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ファイル編集・コマンド実行の前に必ず確認が出る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選択肢：Yes ／ Yes, and don't ask again for this session ／ No + 指示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設定ファイル .claude/settings.json で allow / ask / deny を定義 → §4 で詳述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ヒント：pytest・ruff は allow、rm・git push --force は deny にしておく</a:t>
            </a:r>
          </a:p>
        </p:txBody>
      </p:sp>
      <p:sp>
        <p:nvSpPr>
          <p:cNvPr id="107" name="Shape 108"/>
          <p:cNvSpPr/>
          <p:nvPr/>
        </p:nvSpPr>
        <p:spPr>
          <a:xfrm>
            <a:off x="6197600" y="2489200"/>
            <a:ext cx="5537200" cy="299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2E8B57"/>
                </a:solidFill>
              </a:rPr>
              <a:t>プランモード（Shift + Tab で切替）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「読む・考える」だけで、ファイルを一切変更しないモード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複雑なタスクは まずプランモードで計画を出させ、レビューしてから通常モードで実装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研究コードでは特に有効：解析手順の妥当性を先に確認できる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kumimoji="1" lang="ja-JP" altLang="en-US" sz="1500" dirty="0"/>
              <a:t>表示：画面下に「⏸ plan mode on」と出る</a:t>
            </a:r>
          </a:p>
        </p:txBody>
      </p:sp>
    </p:spTree>
    <p:extLst>
      <p:ext uri="{BB962C8B-B14F-4D97-AF65-F5344CB8AC3E}">
        <p14:creationId xmlns:p14="http://schemas.microsoft.com/office/powerpoint/2010/main" val="229597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4F425-92DF-316C-6639-3D0E3B23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覚えておくスラッシュコマンド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8975E9-AD77-80F3-EB00-AA8DDAE2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入力欄で「/」を打つと一覧が出る。まずはこの 9 つで十分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C7882E-32B0-94AE-67CC-F30B0534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88F0F-3D56-ADD0-980F-E80DB1E1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8A4EF7-3017-E622-8DDE-9ADA42EE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10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9F7B990-8D40-2678-9E28-16369D25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Skills や Subagent も「/名前」で呼び出せる（後述）。よく使う自作の手順はスラッシュコマンド化しておくとチームで共有しやすい。</a:t>
            </a:r>
          </a:p>
        </p:txBody>
      </p:sp>
      <p:graphicFrame>
        <p:nvGraphicFramePr>
          <p:cNvPr id="200" name="Cm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10992"/>
              </p:ext>
            </p:extLst>
          </p:nvPr>
        </p:nvGraphicFramePr>
        <p:xfrm>
          <a:off x="457200" y="1346200"/>
          <a:ext cx="11277600" cy="4191000"/>
        </p:xfrm>
        <a:graphic>
          <a:graphicData uri="http://schemas.openxmlformats.org/drawingml/2006/table">
            <a:tbl>
              <a:tblPr firstRow="1"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FFFFFF"/>
                          </a:solidFill>
                        </a:rPr>
                        <a:t>コマンド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FFFFFF"/>
                          </a:solidFill>
                        </a:rPr>
                        <a:t>いつ使う</a:t>
                      </a:r>
                    </a:p>
                  </a:txBody>
                  <a:tcPr marT="36000" marB="36000" anchor="ctr">
                    <a:lnB w="6350">
                      <a:solidFill>
                        <a:srgbClr val="C9D3E6"/>
                      </a:solidFill>
                    </a:lnB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/init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CLAUDE.md を自動生成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新しいプロジェクトで最初に 1 回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/help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コマンド一覧・ヘルプ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迷ったとき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/clear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会話履歴をリセット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別のタスクに移るとき（コンテキストの混線を防ぐ）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/compact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会話を要約して圧縮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長い作業の途中で応答が鈍ってきたとき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/context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コンテキスト使用量を表示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どれだけ消費しているか確認したいとき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/model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使用モデルの切替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精度重視（Opus）か速度・コスト重視（Sonnet）か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/memory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CLAUDE.md 等のメモリを編集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ルールを追記したいとき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/agents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Subagent の一覧・管理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§3 後半で使用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1" dirty="0">
                          <a:solidFill>
                            <a:srgbClr val="1F3C88"/>
                          </a:solidFill>
                          <a:latin typeface="Consolas"/>
                          <a:ea typeface="游ゴシック"/>
                        </a:rPr>
                        <a:t>/doctor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インストール・設定の診断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550" dirty="0">
                          <a:solidFill>
                            <a:srgbClr val="444444"/>
                          </a:solidFill>
                        </a:rPr>
                        <a:t>動作がおかしいとき</a:t>
                      </a:r>
                    </a:p>
                  </a:txBody>
                  <a:tcPr marT="36000" marB="36000" anchor="ctr"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9D3E6"/>
                      </a:solidFill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24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4F425-92DF-316C-6639-3D0E3B23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コンテキストを管理する：/context と /compact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8975E9-AD77-80F3-EB00-AA8DDAE2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会話が長くなると精度が落ち、コストも増える。「見える化」して「圧縮」するのが基本動作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C7882E-32B0-94AE-67CC-F30B0534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88F0F-3D56-ADD0-980F-E80DB1E1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8A4EF7-3017-E622-8DDE-9ADA42EE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11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9F7B990-8D40-2678-9E28-16369D25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目安：1 タスク = 1 セッション。「読ませる → 計画 → 実装 → テスト」が終わったら /compact か /clear。Subagent を使うと調査分をメインに載せずに済む（§3）。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5461000" cy="508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152400" tIns="152400" rIns="152400" bIns="152400" anchor="ctr"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FFFFFF"/>
                </a:solidFill>
                <a:latin typeface="Consolas"/>
                <a:ea typeface="游ゴシック"/>
              </a:rPr>
              <a:t>/context</a:t>
            </a:r>
            <a:r>
              <a:rPr kumimoji="1" lang="ja-JP" altLang="en-US" sz="1500" dirty="0">
                <a:solidFill>
                  <a:srgbClr val="FFFFFF"/>
                </a:solidFill>
              </a:rPr>
              <a:t>　何がコンテキストを占めているかを見る</a:t>
            </a:r>
          </a:p>
        </p:txBody>
      </p:sp>
      <p:sp>
        <p:nvSpPr>
          <p:cNvPr id="101" name="Shape 102"/>
          <p:cNvSpPr/>
          <p:nvPr/>
        </p:nvSpPr>
        <p:spPr>
          <a:xfrm>
            <a:off x="457200" y="1930400"/>
            <a:ext cx="5461000" cy="157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&gt; /context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System prompt      ▏  3.2k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CLAUDE.md + Skills ▏  4.8k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Messages           ▏ 61.5k ← 大半はファイル読込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Total  69.5k / 200k (35%)</a:t>
            </a:r>
          </a:p>
        </p:txBody>
      </p:sp>
      <p:sp>
        <p:nvSpPr>
          <p:cNvPr id="102" name="Shape 103"/>
          <p:cNvSpPr/>
          <p:nvPr/>
        </p:nvSpPr>
        <p:spPr>
          <a:xfrm>
            <a:off x="457200" y="3581400"/>
            <a:ext cx="5461000" cy="1905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t"/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</a:rPr>
              <a:t>こう読む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Messages が肥大 → 読んだファイルやログが溜まっている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CLAUDE.md + Skills が大きい → ルールの棚卸しを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70〜80% を超えたら /compact のタイミング</a:t>
            </a:r>
          </a:p>
        </p:txBody>
      </p:sp>
      <p:sp>
        <p:nvSpPr>
          <p:cNvPr id="103" name="Shape 104"/>
          <p:cNvSpPr/>
          <p:nvPr/>
        </p:nvSpPr>
        <p:spPr>
          <a:xfrm>
            <a:off x="6273800" y="1346200"/>
            <a:ext cx="5461000" cy="508000"/>
          </a:xfrm>
          <a:prstGeom prst="roundRect">
            <a:avLst>
              <a:gd name="adj" fmla="val 6000"/>
            </a:avLst>
          </a:prstGeom>
          <a:solidFill>
            <a:srgbClr val="A94700"/>
          </a:solidFill>
          <a:ln>
            <a:noFill/>
          </a:ln>
        </p:spPr>
        <p:txBody>
          <a:bodyPr wrap="square" lIns="152400" tIns="152400" rIns="152400" bIns="152400" anchor="ctr"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FFFFFF"/>
                </a:solidFill>
                <a:latin typeface="Consolas"/>
                <a:ea typeface="游ゴシック"/>
              </a:rPr>
              <a:t>/compact</a:t>
            </a:r>
            <a:r>
              <a:rPr kumimoji="1" lang="ja-JP" altLang="en-US" sz="1500" dirty="0">
                <a:solidFill>
                  <a:srgbClr val="FFFFFF"/>
                </a:solidFill>
              </a:rPr>
              <a:t>　会話を要約して続ける</a:t>
            </a:r>
          </a:p>
        </p:txBody>
      </p:sp>
      <p:sp>
        <p:nvSpPr>
          <p:cNvPr id="104" name="Shape 105"/>
          <p:cNvSpPr/>
          <p:nvPr/>
        </p:nvSpPr>
        <p:spPr>
          <a:xfrm>
            <a:off x="6273800" y="1930400"/>
            <a:ext cx="5461000" cy="157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&gt; /compact 実装済みの内容と未解決のテスト失敗を残して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Compacting conversation...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  ✓ 69.5k → 8.1k tokens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4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&gt; /clear   ← 別タスクに移るときは要約せず全消去</a:t>
            </a:r>
          </a:p>
        </p:txBody>
      </p:sp>
      <p:sp>
        <p:nvSpPr>
          <p:cNvPr id="105" name="Shape 106"/>
          <p:cNvSpPr/>
          <p:nvPr/>
        </p:nvSpPr>
        <p:spPr>
          <a:xfrm>
            <a:off x="6273800" y="3581400"/>
            <a:ext cx="5461000" cy="19050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A94700"/>
            </a:solidFill>
          </a:ln>
        </p:spPr>
        <p:txBody>
          <a:bodyPr wrap="square" lIns="152400" tIns="152400" rIns="152400" bIns="152400" anchor="t"/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A94700"/>
                </a:solidFill>
              </a:rPr>
              <a:t>使い分け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/compact：同じタスクの続き。引数で「残すもの」を指示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/clear：別タスクへ。決定事項は先に CLAUDE.md へ書く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400" dirty="0">
                <a:solidFill>
                  <a:srgbClr val="444444"/>
                </a:solidFill>
              </a:rPr>
              <a:t>自動圧縮もあるが、区切りで自分から打つ方が要約が良い</a:t>
            </a:r>
          </a:p>
        </p:txBody>
      </p:sp>
    </p:spTree>
    <p:extLst>
      <p:ext uri="{BB962C8B-B14F-4D97-AF65-F5344CB8AC3E}">
        <p14:creationId xmlns:p14="http://schemas.microsoft.com/office/powerpoint/2010/main" val="73853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C2F0F-0D02-5A09-BB14-7B15BFDA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良い指示の出し方（Python 解析コードの例）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D3A614-D5C2-EBE9-3038-AA57A787F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「目的・入出力・制約・完了条件」を書く。人に頼むときと同じ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FF188F-8A2C-AA7E-0346-41DF617D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329C8-DF50-F5A9-CAEC-284E2F9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E23B90-795E-174B-64B3-524D188B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12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1737F9D-A4CE-439B-FC9E-459322A43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コツ：うまくいかなかったら指示を足すのではなく、CLAUDE.md にルールとして書く（§3）。同じ注意を 2 回したら CLAUDE.md 行き。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3810000" cy="76200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</p:spPr>
        <p:txBody>
          <a:bodyPr wrap="square" lIns="152400" tIns="152400" rIns="152400" bIns="152400" anchor="ctr"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C0392B"/>
                </a:solidFill>
              </a:rPr>
              <a:t>✕ 悪い例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600" dirty="0">
                <a:solidFill>
                  <a:srgbClr val="444444"/>
                </a:solidFill>
              </a:rPr>
              <a:t>「欠損値の処理を追加して」</a:t>
            </a:r>
          </a:p>
        </p:txBody>
      </p:sp>
      <p:sp>
        <p:nvSpPr>
          <p:cNvPr id="101" name="Shape 102"/>
          <p:cNvSpPr/>
          <p:nvPr/>
        </p:nvSpPr>
        <p:spPr>
          <a:xfrm>
            <a:off x="457200" y="2184400"/>
            <a:ext cx="3810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txBody>
          <a:bodyPr wrap="square" lIns="152400" tIns="152400" rIns="152400" bIns="1524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700" b="1" dirty="0">
                <a:solidFill>
                  <a:srgbClr val="C0392B"/>
                </a:solidFill>
              </a:rPr>
              <a:t>何が起きるか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600" dirty="0"/>
              <a:t>どの関数？ どの列？ 方法は？ → Claude が推測で決める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600" dirty="0"/>
              <a:t>テストがないので「動いた」の基準がない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600" dirty="0"/>
              <a:t>後から直す手戻りが増える</a:t>
            </a:r>
          </a:p>
          <a:p>
            <a:pPr marL="0" indent="0">
              <a:buNone/>
            </a:pPr>
            <a:endParaRPr kumimoji="1" lang="ja-JP" altLang="en-US" sz="1400" dirty="0"/>
          </a:p>
          <a:p>
            <a:pPr marL="0" indent="0">
              <a:spcBef>
                <a:spcPts val="1200"/>
              </a:spcBef>
              <a:buNone/>
            </a:pPr>
            <a:r>
              <a:rPr kumimoji="1" lang="ja-JP" altLang="en-US" sz="1700" b="1" dirty="0">
                <a:solidFill>
                  <a:srgbClr val="C0392B"/>
                </a:solidFill>
              </a:rPr>
              <a:t>研究では特に危険：「もっともらしく動く誤った解析」が最悪の結果</a:t>
            </a:r>
          </a:p>
        </p:txBody>
      </p:sp>
      <p:sp>
        <p:nvSpPr>
          <p:cNvPr id="102" name="Shape 103"/>
          <p:cNvSpPr/>
          <p:nvPr/>
        </p:nvSpPr>
        <p:spPr>
          <a:xfrm>
            <a:off x="4470400" y="1346200"/>
            <a:ext cx="7264400" cy="2819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203200" tIns="203200" rIns="203200" bIns="203200" anchor="t"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load_data.py の load_csv() に欠損値処理を追加したい。</a:t>
            </a:r>
          </a:p>
          <a:p>
            <a:pPr marL="0" indent="0">
              <a:spcBef>
                <a:spcPts val="200"/>
              </a:spcBef>
              <a:buNone/>
            </a:pPr>
            <a:endParaRPr kumimoji="1" lang="ja-JP" altLang="en-US" sz="14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- 数値列は列ごとの中央値で補完</a:t>
            </a:r>
            <a:r>
              <a:rPr kumimoji="1"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、文字列の列</a:t>
            </a: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は "unknown" で埋める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- 引数 fill_missing: bool = True で ON/OFF できるように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- 既存の</a:t>
            </a:r>
            <a:r>
              <a:rPr kumimoji="1"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呼び出し側はコード修正なしで動くこと（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デフォルト</a:t>
            </a: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 True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）</a:t>
            </a:r>
            <a:endParaRPr kumimoji="1" lang="ja-JP" altLang="en-US" sz="15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285750" indent="-285750">
              <a:spcBef>
                <a:spcPts val="200"/>
              </a:spcBef>
              <a:buFontTx/>
              <a:buChar char="-"/>
            </a:pPr>
            <a:r>
              <a:rPr kumimoji="1"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tests</a:t>
            </a: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/test_load.</a:t>
            </a:r>
            <a:r>
              <a:rPr kumimoji="1"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py に次を検証するテストを追加</a:t>
            </a:r>
            <a:endParaRPr kumimoji="1" lang="en-US" altLang="ja-JP" sz="15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622300" indent="-622300">
              <a:spcBef>
                <a:spcPts val="200"/>
              </a:spcBef>
            </a:pP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   1. 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デフォルトで欠損が</a:t>
            </a: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0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個になり，数値列は中央値，文字列の列は</a:t>
            </a: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”unknown”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で埋まっていることを確認</a:t>
            </a:r>
            <a:endParaRPr lang="en-US" altLang="ja-JP" sz="15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>
              <a:spcBef>
                <a:spcPts val="200"/>
              </a:spcBef>
            </a:pP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   2. </a:t>
            </a:r>
            <a:r>
              <a:rPr lang="en-US" altLang="ja-JP" sz="1500" dirty="0" err="1">
                <a:solidFill>
                  <a:srgbClr val="E6E6E6"/>
                </a:solidFill>
                <a:latin typeface="Consolas"/>
                <a:ea typeface="游ゴシック"/>
              </a:rPr>
              <a:t>fill_missing</a:t>
            </a:r>
            <a:r>
              <a:rPr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=False</a:t>
            </a:r>
            <a:r>
              <a:rPr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なら欠損がそのまま残る</a:t>
            </a:r>
            <a:endParaRPr lang="en-US" altLang="ja-JP" sz="15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>
              <a:spcBef>
                <a:spcPts val="200"/>
              </a:spcBef>
            </a:pPr>
            <a:r>
              <a:rPr kumimoji="1" lang="en-US" altLang="ja-JP" sz="1500" dirty="0">
                <a:solidFill>
                  <a:srgbClr val="E6E6E6"/>
                </a:solidFill>
                <a:latin typeface="Consolas"/>
                <a:ea typeface="游ゴシック"/>
              </a:rPr>
              <a:t>- </a:t>
            </a:r>
            <a:r>
              <a:rPr kumimoji="1" lang="ja-JP" altLang="en-US" sz="1500">
                <a:solidFill>
                  <a:srgbClr val="E6E6E6"/>
                </a:solidFill>
                <a:latin typeface="Consolas"/>
                <a:ea typeface="游ゴシック"/>
              </a:rPr>
              <a:t>pytest </a:t>
            </a: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が全部通ることが完了条件</a:t>
            </a:r>
          </a:p>
          <a:p>
            <a:pPr marL="0" indent="0">
              <a:spcBef>
                <a:spcPts val="200"/>
              </a:spcBef>
              <a:buNone/>
            </a:pPr>
            <a:endParaRPr kumimoji="1" lang="ja-JP" altLang="en-US" sz="14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500" dirty="0">
                <a:solidFill>
                  <a:srgbClr val="E6E6E6"/>
                </a:solidFill>
                <a:latin typeface="Consolas"/>
                <a:ea typeface="游ゴシック"/>
              </a:rPr>
              <a:t>まずコードを読んで変更計画だけ提示して。実装はその後で。</a:t>
            </a:r>
          </a:p>
        </p:txBody>
      </p:sp>
      <p:sp>
        <p:nvSpPr>
          <p:cNvPr id="103" name="Shape 104"/>
          <p:cNvSpPr/>
          <p:nvPr/>
        </p:nvSpPr>
        <p:spPr>
          <a:xfrm>
            <a:off x="4470400" y="4267200"/>
            <a:ext cx="7264400" cy="1219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2E8B57"/>
                </a:solidFill>
              </a:rPr>
              <a:t>◯ 良い指示の 4 要素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500" dirty="0">
                <a:solidFill>
                  <a:srgbClr val="444444"/>
                </a:solidFill>
              </a:rPr>
              <a:t>目的（何のため）／入出力（どの関数・列・型）／制約（変えてはいけないもの）／完了条件（テストが通る・図が出る）＋「まず計画を出して」</a:t>
            </a:r>
          </a:p>
        </p:txBody>
      </p:sp>
    </p:spTree>
    <p:extLst>
      <p:ext uri="{BB962C8B-B14F-4D97-AF65-F5344CB8AC3E}">
        <p14:creationId xmlns:p14="http://schemas.microsoft.com/office/powerpoint/2010/main" val="212974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868FD-906D-DF69-CA66-BE601DE3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ハンズオン ②：解析スクリプトに機能追加してテストを通す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635E95-F5FB-965D-0081-1D60B9ABA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ゴール：load_csv() に欠損値処理を追加し、pytest を全部通す（読む→計画→実装→検証 の分割を体験）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B66728-0EDE-9302-C61E-2BC2D3E00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AEB65-7328-A1CA-6F6F-EC581A55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0D4A08-AC46-217B-6A52-4A7F80FA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13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EEE827C-6DD5-E3C2-A1BB-FF47EAB462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537200"/>
            <a:ext cx="11277600" cy="584200"/>
          </a:xfrm>
        </p:spPr>
        <p:txBody>
          <a:bodyPr numCol="1" anchor="ctr"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学習ポイント：完了条件を「テストが通る」にすると自走しやすい／承認前に必ず差分を読む／Claude が書いたテストは「何を検証しているか」を自分で説明できること。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b="1" dirty="0">
                <a:solidFill>
                  <a:srgbClr val="2E8B57"/>
                </a:solidFill>
              </a:rPr>
              <a:t>Antigravity の場合：</a:t>
            </a:r>
            <a:r>
              <a:rPr kumimoji="1" lang="ja-JP" altLang="en-US" sz="1400" dirty="0">
                <a:solidFill>
                  <a:srgbClr val="444444"/>
                </a:solidFill>
              </a:rPr>
              <a:t>同じ指示文をそのまま使える。「計画だけ提示」は Planning モードを選ぶ。差分はアプリ内ビューで確認して承認する。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716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A947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Shape 102"/>
          <p:cNvSpPr/>
          <p:nvPr/>
        </p:nvSpPr>
        <p:spPr>
          <a:xfrm>
            <a:off x="1041400" y="1371600"/>
            <a:ext cx="47244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プランモードに切替（Shift+Tab）、前スライドの指示を貼る</a:t>
            </a:r>
          </a:p>
        </p:txBody>
      </p:sp>
      <p:sp>
        <p:nvSpPr>
          <p:cNvPr id="102" name="Shape 103"/>
          <p:cNvSpPr/>
          <p:nvPr/>
        </p:nvSpPr>
        <p:spPr>
          <a:xfrm>
            <a:off x="5842000" y="1371600"/>
            <a:ext cx="58928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→ Claude がコードを読んで計画を提示する。書き換えは起きない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1844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1041400" y="2184400"/>
            <a:ext cx="47244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計画をレビューして修正指示</a:t>
            </a:r>
          </a:p>
        </p:txBody>
      </p:sp>
      <p:sp>
        <p:nvSpPr>
          <p:cNvPr id="105" name="Shape 106"/>
          <p:cNvSpPr/>
          <p:nvPr/>
        </p:nvSpPr>
        <p:spPr>
          <a:xfrm>
            <a:off x="5842000" y="2184400"/>
            <a:ext cx="58928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例：「中央値は train 側だけで計算して」「型ヒントを付けて」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29972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A94700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Shape 108"/>
          <p:cNvSpPr/>
          <p:nvPr/>
        </p:nvSpPr>
        <p:spPr>
          <a:xfrm>
            <a:off x="1041400" y="2997200"/>
            <a:ext cx="47244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通常モードに戻して「その計画で実装して」</a:t>
            </a:r>
          </a:p>
        </p:txBody>
      </p:sp>
      <p:sp>
        <p:nvSpPr>
          <p:cNvPr id="108" name="Shape 109"/>
          <p:cNvSpPr/>
          <p:nvPr/>
        </p:nvSpPr>
        <p:spPr>
          <a:xfrm>
            <a:off x="5842000" y="2997200"/>
            <a:ext cx="58928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→ 差分が順に提示される。1 つずつ内容を読んで承認</a:t>
            </a:r>
          </a:p>
        </p:txBody>
      </p:sp>
      <p:sp>
        <p:nvSpPr>
          <p:cNvPr id="109" name="Shape 110"/>
          <p:cNvSpPr/>
          <p:nvPr/>
        </p:nvSpPr>
        <p:spPr>
          <a:xfrm>
            <a:off x="457200" y="38100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Shape 111"/>
          <p:cNvSpPr/>
          <p:nvPr/>
        </p:nvSpPr>
        <p:spPr>
          <a:xfrm>
            <a:off x="1041400" y="3810000"/>
            <a:ext cx="47244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Claude が pytest を実行 → 失敗があれば自己修正</a:t>
            </a:r>
          </a:p>
        </p:txBody>
      </p:sp>
      <p:sp>
        <p:nvSpPr>
          <p:cNvPr id="111" name="Shape 112"/>
          <p:cNvSpPr/>
          <p:nvPr/>
        </p:nvSpPr>
        <p:spPr>
          <a:xfrm>
            <a:off x="5842000" y="3810000"/>
            <a:ext cx="58928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→ 赤→緑になる過程を観察。勝手に test を消していないか確認</a:t>
            </a:r>
          </a:p>
        </p:txBody>
      </p:sp>
      <p:sp>
        <p:nvSpPr>
          <p:cNvPr id="112" name="Shape 113"/>
          <p:cNvSpPr/>
          <p:nvPr/>
        </p:nvSpPr>
        <p:spPr>
          <a:xfrm>
            <a:off x="457200" y="46228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3" name="Shape 114"/>
          <p:cNvSpPr/>
          <p:nvPr/>
        </p:nvSpPr>
        <p:spPr>
          <a:xfrm>
            <a:off x="1041400" y="4622800"/>
            <a:ext cx="47244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最終確認とコミット</a:t>
            </a:r>
          </a:p>
        </p:txBody>
      </p:sp>
      <p:sp>
        <p:nvSpPr>
          <p:cNvPr id="114" name="Shape 115"/>
          <p:cNvSpPr/>
          <p:nvPr/>
        </p:nvSpPr>
        <p:spPr>
          <a:xfrm>
            <a:off x="5842000" y="4622800"/>
            <a:ext cx="58928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git diff で全体を眺める →「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規約に沿ったメッセージでコミットして</a:t>
            </a:r>
            <a:r>
              <a:rPr kumimoji="1" lang="ja-JP" altLang="en-US" sz="1400" dirty="0">
                <a:solidFill>
                  <a:srgbClr val="444444"/>
                </a:solidFill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324891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09D13-4BDD-2726-8294-457D746D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§3 実践テクニック：CLAUDE.md ＝ プロジェクトの「取扱説明書」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9F9E9-76A1-A064-DD04-547510F1A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毎セッションの最初に自動で読み込まれる。ここに書いたルールは、毎回言わなくても守られる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34EDC-A195-12F1-7F42-A05EF75D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3B38D8-7C09-DBA6-97D8-EBFFFADA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A624A3-2519-612E-FD43-BE41F183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14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BF761F-2954-638E-AE2D-09B0833EE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62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階層：~/.claude/CLAUDE.md（個人・全プロジェクト共通）→ プロジェクト直下の CLAUDE.md（チーム共有）→ サブディレクトリの CLAUDE.md（部分ルール）。上書きではなく合成される。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5461000" cy="4140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書く</a:t>
            </a:r>
            <a:r>
              <a:rPr kumimoji="1" lang="ja-JP" altLang="en-US" sz="1800" b="1">
                <a:solidFill>
                  <a:srgbClr val="1F3C88"/>
                </a:solidFill>
              </a:rPr>
              <a:t>べきこと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/>
              <a:t>環境：ライブラリや仮想環境の管理（venvなど）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/>
              <a:t>実行</a:t>
            </a:r>
            <a:r>
              <a:rPr kumimoji="1" lang="ja-JP" altLang="en-US" sz="1500" dirty="0"/>
              <a:t>コマンド：テスト・lint・解析の起動方法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ディレクトリ構成：data/ は読み取り専用、results/ に出力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コーディング規約：型ヒント必須、ruff 準拠、日本語 docstring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解析のルール：乱数 seed 固定、生データを上書きしない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「2 回注意したこと」を全部ここに追記</a:t>
            </a:r>
          </a:p>
          <a:p>
            <a:pPr marL="0" indent="0">
              <a:spcBef>
                <a:spcPts val="800"/>
              </a:spcBef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運用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100〜300 行が目安。長すぎると読まれなくなる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Git にコミットして研究室で共有／古い記述は消す</a:t>
            </a:r>
          </a:p>
        </p:txBody>
      </p:sp>
      <p:sp>
        <p:nvSpPr>
          <p:cNvPr id="101" name="Shape 102"/>
          <p:cNvSpPr/>
          <p:nvPr/>
        </p:nvSpPr>
        <p:spPr>
          <a:xfrm>
            <a:off x="6121400" y="1346200"/>
            <a:ext cx="5613400" cy="414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203200" tIns="203200" rIns="203200" bIns="2032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# CLAUDE.md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## 環境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Python &gt;=3.9。依存は pyproject.toml（pip install -e .）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実行: pytest / python stats.py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## ディレクトリ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data/raw は絶対に変更しない（読み取り専用）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図は results/figures/ に PDF と PNG の両方で保存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## コーディング規約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すべての関数に型ヒントと日本語 docstring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乱数は numpy の default_rng(seed=0) を使う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pandas の chained assignment は禁止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## 作業の進め方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- 変更前に必ず計画を提示する</a:t>
            </a:r>
          </a:p>
          <a:p>
            <a:pPr marL="285750" indent="-285750">
              <a:spcBef>
                <a:spcPts val="150"/>
              </a:spcBef>
              <a:buFontTx/>
              <a:buChar char="-"/>
            </a:pPr>
            <a:r>
              <a:rPr kumimoji="1"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テスト</a:t>
            </a: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を追加せずに機能</a:t>
            </a:r>
            <a:r>
              <a:rPr kumimoji="1"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追加しない</a:t>
            </a:r>
            <a:endParaRPr kumimoji="1" lang="en-US" altLang="ja-JP" sz="14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285750" indent="-285750">
              <a:spcBef>
                <a:spcPts val="150"/>
              </a:spcBef>
              <a:buFontTx/>
              <a:buChar char="-"/>
            </a:pPr>
            <a:r>
              <a:rPr lang="en-US" altLang="ja-JP" sz="1400" dirty="0">
                <a:solidFill>
                  <a:srgbClr val="E6E6E6"/>
                </a:solidFill>
                <a:latin typeface="Consolas"/>
                <a:ea typeface="游ゴシック"/>
              </a:rPr>
              <a:t>Git</a:t>
            </a:r>
            <a:r>
              <a:rPr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操作（</a:t>
            </a:r>
            <a:r>
              <a:rPr lang="en-US" altLang="ja-JP" sz="1400" dirty="0">
                <a:solidFill>
                  <a:srgbClr val="E6E6E6"/>
                </a:solidFill>
                <a:latin typeface="Consolas"/>
                <a:ea typeface="游ゴシック"/>
              </a:rPr>
              <a:t>commit</a:t>
            </a:r>
            <a:r>
              <a:rPr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や</a:t>
            </a:r>
            <a:r>
              <a:rPr lang="en-US" altLang="ja-JP" sz="1400" dirty="0">
                <a:solidFill>
                  <a:srgbClr val="E6E6E6"/>
                </a:solidFill>
                <a:latin typeface="Consolas"/>
                <a:ea typeface="游ゴシック"/>
              </a:rPr>
              <a:t>push</a:t>
            </a:r>
            <a:r>
              <a:rPr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）は禁止</a:t>
            </a:r>
            <a:endParaRPr kumimoji="1" lang="ja-JP" altLang="en-US" sz="1400" dirty="0">
              <a:solidFill>
                <a:srgbClr val="E6E6E6"/>
              </a:solidFill>
              <a:latin typeface="Consolas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348167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66C803-B6B3-D47A-A897-D520E740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Skills とは：「手順を一度教えれば、毎回同じ品質で実行される」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FAAF2B-0954-E8A6-59B8-565F329B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CLAUDE.md は「常に守るルール」、Skill は「必要なときに呼び出す作業手順書」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E65E63-5BDF-78EA-F983-DDD0BF28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1B5C6C-E648-0059-79C4-B3E69814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86437-8DD8-F52F-0266-C4B2A4EC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15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A2013E9-C81F-1A40-69EE-1373EFE60A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Skills は Anthropic が公開した「Agent Skills」というオープン規格。同じ SKILL.md が Claude.ai のチャットや他社の AI コーディングツールでも動く。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5461000" cy="1854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1F3C88"/>
                </a:solidFill>
              </a:rPr>
              <a:t>仕組み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フォルダ 1 つ ＋ SKILL.md 1 枚（Markdown）で定義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呼び出し：「/skill名」で明示、または依頼内容に合えば Claude が自動で使う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普段はメタ情報だけ読み、使うときに本文を読む → コンテキストを節約</a:t>
            </a:r>
          </a:p>
        </p:txBody>
      </p:sp>
      <p:sp>
        <p:nvSpPr>
          <p:cNvPr id="101" name="Shape 102"/>
          <p:cNvSpPr/>
          <p:nvPr/>
        </p:nvSpPr>
        <p:spPr>
          <a:xfrm>
            <a:off x="457200" y="3403600"/>
            <a:ext cx="5461000" cy="208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2E8B57"/>
                </a:solidFill>
              </a:rPr>
              <a:t>2 つの置き場所</a:t>
            </a:r>
          </a:p>
          <a:p>
            <a:pPr marL="0" indent="0">
              <a:spcBef>
                <a:spcPts val="400"/>
              </a:spcBef>
              <a:buNone/>
            </a:pPr>
            <a:r>
              <a:rPr kumimoji="1" lang="ja-JP" altLang="en-US" sz="1400" dirty="0">
                <a:solidFill>
                  <a:srgbClr val="1F3C88"/>
                </a:solidFill>
                <a:latin typeface="Consolas"/>
                <a:ea typeface="游ゴシック"/>
              </a:rPr>
              <a:t>~/.claude/skills/&lt;name&gt;/SKILL.md</a:t>
            </a:r>
          </a:p>
          <a:p>
            <a:pPr marL="18000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個人用。全プロジェクトで使える</a:t>
            </a:r>
          </a:p>
          <a:p>
            <a:pPr marL="0" indent="0">
              <a:spcBef>
                <a:spcPts val="400"/>
              </a:spcBef>
              <a:buNone/>
            </a:pPr>
            <a:r>
              <a:rPr kumimoji="1" lang="ja-JP" altLang="en-US" sz="1400" dirty="0">
                <a:solidFill>
                  <a:srgbClr val="1F3C88"/>
                </a:solidFill>
                <a:latin typeface="Consolas"/>
                <a:ea typeface="游ゴシック"/>
              </a:rPr>
              <a:t>.claude/skills/&lt;name&gt;/SKILL.md</a:t>
            </a:r>
          </a:p>
          <a:p>
            <a:pPr marL="18000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プロジェクト用。Git でコミットすれば研究室全員に配布される ← 本日のおすすめ</a:t>
            </a:r>
          </a:p>
        </p:txBody>
      </p:sp>
      <p:sp>
        <p:nvSpPr>
          <p:cNvPr id="102" name="Shape 103"/>
          <p:cNvSpPr/>
          <p:nvPr/>
        </p:nvSpPr>
        <p:spPr>
          <a:xfrm>
            <a:off x="6121400" y="1346200"/>
            <a:ext cx="5613400" cy="414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31A"/>
            </a:solidFill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E8731A"/>
                </a:solidFill>
              </a:rPr>
              <a:t>CLAUDE.md ／ Skill ／ 毎回の指示 の使い分け</a:t>
            </a:r>
          </a:p>
          <a:p>
            <a:pPr marL="0" indent="0">
              <a:spcBef>
                <a:spcPts val="1100"/>
              </a:spcBef>
              <a:buNone/>
            </a:pPr>
            <a:r>
              <a:rPr kumimoji="1" lang="ja-JP" altLang="en-US" sz="1700" b="1" dirty="0">
                <a:solidFill>
                  <a:srgbClr val="1F3C88"/>
                </a:solidFill>
              </a:rPr>
              <a:t>CLAUDE.md</a:t>
            </a:r>
          </a:p>
          <a:p>
            <a:pPr marL="180000" indent="0">
              <a:buNone/>
            </a:pPr>
            <a:r>
              <a:rPr kumimoji="1" lang="ja-JP" altLang="en-US" sz="1600" dirty="0">
                <a:solidFill>
                  <a:srgbClr val="444444"/>
                </a:solidFill>
              </a:rPr>
              <a:t>プロジェクト全体に常に効くルール。「data/raw を変更しない」「型ヒント必須」</a:t>
            </a:r>
          </a:p>
          <a:p>
            <a:pPr marL="0" indent="0">
              <a:spcBef>
                <a:spcPts val="1100"/>
              </a:spcBef>
              <a:buNone/>
            </a:pPr>
            <a:r>
              <a:rPr kumimoji="1" lang="ja-JP" altLang="en-US" sz="1700" b="1" dirty="0">
                <a:solidFill>
                  <a:srgbClr val="1F3C88"/>
                </a:solidFill>
              </a:rPr>
              <a:t>Skill</a:t>
            </a:r>
          </a:p>
          <a:p>
            <a:pPr marL="180000" indent="0">
              <a:buNone/>
            </a:pPr>
            <a:r>
              <a:rPr kumimoji="1" lang="ja-JP" altLang="en-US" sz="1600" dirty="0">
                <a:solidFill>
                  <a:srgbClr val="444444"/>
                </a:solidFill>
              </a:rPr>
              <a:t>特定の作業の手順。「論文用の図を描く」「解析レポートを作る」「PDF を要約する」</a:t>
            </a:r>
          </a:p>
          <a:p>
            <a:pPr marL="0" indent="0">
              <a:spcBef>
                <a:spcPts val="1100"/>
              </a:spcBef>
              <a:buNone/>
            </a:pPr>
            <a:r>
              <a:rPr kumimoji="1" lang="ja-JP" altLang="en-US" sz="1700" b="1" dirty="0">
                <a:solidFill>
                  <a:srgbClr val="1F3C88"/>
                </a:solidFill>
              </a:rPr>
              <a:t>その場の指示</a:t>
            </a:r>
          </a:p>
          <a:p>
            <a:pPr marL="180000" indent="0">
              <a:buNone/>
            </a:pPr>
            <a:r>
              <a:rPr kumimoji="1" lang="ja-JP" altLang="en-US" sz="1600" dirty="0">
                <a:solidFill>
                  <a:srgbClr val="444444"/>
                </a:solidFill>
              </a:rPr>
              <a:t>今回だけの内容。「この CSV の 3 列目を対数変換して」</a:t>
            </a:r>
          </a:p>
          <a:p>
            <a:pPr marL="0" indent="0">
              <a:spcBef>
                <a:spcPts val="1400"/>
              </a:spcBef>
              <a:buNone/>
            </a:pPr>
            <a:r>
              <a:rPr kumimoji="1" lang="ja-JP" altLang="en-US" sz="1600" b="1" dirty="0">
                <a:solidFill>
                  <a:srgbClr val="E8731A"/>
                </a:solidFill>
              </a:rPr>
              <a:t>判断基準：3 回以上繰り返す手順 → Skill 化。2 回注意したルール → CLAUDE.md</a:t>
            </a:r>
          </a:p>
        </p:txBody>
      </p:sp>
    </p:spTree>
    <p:extLst>
      <p:ext uri="{BB962C8B-B14F-4D97-AF65-F5344CB8AC3E}">
        <p14:creationId xmlns:p14="http://schemas.microsoft.com/office/powerpoint/2010/main" val="333082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301A6-EBF7-BF1F-F458-99FC877C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SKILL.md の書き方：frontmatter ＋ 手順本文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0D3849-078A-C5A7-C237-FEE32CFF6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上の YAML が「いつ使うか」、下の Markdown が「何をするか」。description </a:t>
            </a:r>
            <a:r>
              <a:rPr kumimoji="1" lang="ja-JP" altLang="en-US" sz="2000" b="1">
                <a:solidFill>
                  <a:srgbClr val="1F3C88"/>
                </a:solidFill>
              </a:rPr>
              <a:t>の書き方で</a:t>
            </a:r>
            <a:r>
              <a:rPr lang="en-US" altLang="ja-JP" sz="2000" b="1" dirty="0" err="1">
                <a:solidFill>
                  <a:srgbClr val="1F3C88"/>
                </a:solidFill>
              </a:rPr>
              <a:t>claude</a:t>
            </a:r>
            <a:r>
              <a:rPr lang="ja-JP" altLang="en-US" sz="2000" b="1">
                <a:solidFill>
                  <a:srgbClr val="1F3C88"/>
                </a:solidFill>
              </a:rPr>
              <a:t>の参照頻度が変わる</a:t>
            </a:r>
            <a:endParaRPr kumimoji="1" lang="ja-JP" altLang="en-US" sz="2000" b="1" dirty="0">
              <a:solidFill>
                <a:srgbClr val="1F3C88"/>
              </a:solidFill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A6EBF0-D151-DC84-CAA8-13421722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576AE-E1E4-5E8A-2DCB-067DCF2A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514FC-51F1-C892-637D-AD977C01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16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D54A084-BFF4-5C61-F0C3-AAFCDBE88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構成例：.claude/skills/plot-style/{SKILL.md, references/style.mplstyle, scripts/check_figure.py}。まず SKILL.md 1 枚から始め、必要になったら足す。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6858000" cy="414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203200" tIns="203200" rIns="203200" bIns="2032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300" dirty="0">
                <a:solidFill>
                  <a:srgbClr val="F5C400"/>
                </a:solidFill>
                <a:latin typeface="Consolas"/>
                <a:ea typeface="游ゴシック"/>
              </a:rPr>
              <a:t>---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5C400"/>
                </a:solidFill>
                <a:latin typeface="Consolas"/>
                <a:ea typeface="游ゴシック"/>
              </a:rPr>
              <a:t>name: </a:t>
            </a: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plot-style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5C400"/>
                </a:solidFill>
                <a:latin typeface="Consolas"/>
                <a:ea typeface="游ゴシック"/>
              </a:rPr>
              <a:t>description: </a:t>
            </a: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研究室の論文投稿規約で matplotlib の図を作成・修正する。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  ユーザが「論文用の図」「figure を整えて」「投稿規定に合わせて」と言ったら使う。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5C400"/>
                </a:solidFill>
                <a:latin typeface="Consolas"/>
                <a:ea typeface="游ゴシック"/>
              </a:rPr>
              <a:t>---</a:t>
            </a:r>
          </a:p>
          <a:p>
            <a:pPr marL="0" indent="0">
              <a:spcBef>
                <a:spcPts val="100"/>
              </a:spcBef>
              <a:buNone/>
            </a:pPr>
            <a:endParaRPr kumimoji="1" lang="ja-JP" altLang="en-US" sz="1300" dirty="0">
              <a:solidFill>
                <a:srgbClr val="F5C400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8731A"/>
                </a:solidFill>
                <a:latin typeface="Consolas"/>
                <a:ea typeface="游ゴシック"/>
              </a:rPr>
              <a:t># 論文用プロット規約</a:t>
            </a:r>
          </a:p>
          <a:p>
            <a:pPr marL="0" indent="0">
              <a:spcBef>
                <a:spcPts val="100"/>
              </a:spcBef>
              <a:buNone/>
            </a:pPr>
            <a:endParaRPr kumimoji="1" lang="ja-JP" altLang="en-US" sz="1300" dirty="0">
              <a:solidFill>
                <a:srgbClr val="E8731A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8731A"/>
                </a:solidFill>
                <a:latin typeface="Consolas"/>
                <a:ea typeface="游ゴシック"/>
              </a:rPr>
              <a:t>## 手順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1. `references/style.mplstyle` を読み、plt.style.use で適用する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2. フォントは Arial 8pt、線幅 1.0、カラーは colorblind-safe パレット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3. 図サイズは 1 段 85 mm / 2 段 175 mm 幅で作成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4. results/figures/ に PDF と PNG（300 dpi）を保存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5. 保存後、生成した図を開いて軸ラベル・単位・凡例を確認する</a:t>
            </a:r>
          </a:p>
          <a:p>
            <a:pPr marL="0" indent="0">
              <a:spcBef>
                <a:spcPts val="10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8731A"/>
                </a:solidFill>
                <a:latin typeface="Consolas"/>
                <a:ea typeface="游ゴシック"/>
              </a:rPr>
              <a:t>## 禁止事項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- タイトルを図内に書かない（キャプションで書く）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- デフォルトの tab10 カラーを使わない</a:t>
            </a:r>
          </a:p>
        </p:txBody>
      </p:sp>
      <p:sp>
        <p:nvSpPr>
          <p:cNvPr id="101" name="Shape 102"/>
          <p:cNvSpPr/>
          <p:nvPr/>
        </p:nvSpPr>
        <p:spPr>
          <a:xfrm>
            <a:off x="7518400" y="1346200"/>
            <a:ext cx="4216400" cy="1270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  <a:latin typeface="Consolas"/>
                <a:ea typeface="游ゴシック"/>
              </a:rPr>
              <a:t>name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呼び出し名。/plot-style で明示実行できる。小文字とハイフン</a:t>
            </a:r>
          </a:p>
        </p:txBody>
      </p:sp>
      <p:sp>
        <p:nvSpPr>
          <p:cNvPr id="102" name="Shape 103"/>
          <p:cNvSpPr/>
          <p:nvPr/>
        </p:nvSpPr>
        <p:spPr>
          <a:xfrm>
            <a:off x="7518400" y="2692400"/>
            <a:ext cx="4216400" cy="13970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E8731A"/>
            </a:solidFill>
          </a:ln>
        </p:spPr>
        <p:txBody>
          <a:bodyPr wrap="square" lIns="152400" tIns="152400" rIns="152400" bIns="152400" anchor="ctr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E8731A"/>
                </a:solidFill>
              </a:rPr>
              <a:t>description </a:t>
            </a:r>
            <a:r>
              <a:rPr kumimoji="1" lang="ja-JP" altLang="en-US" sz="1500" b="1">
                <a:solidFill>
                  <a:srgbClr val="E8731A"/>
                </a:solidFill>
              </a:rPr>
              <a:t>＝ 使用条件</a:t>
            </a:r>
            <a:endParaRPr kumimoji="1" lang="ja-JP" altLang="en-US" sz="1500" b="1" dirty="0">
              <a:solidFill>
                <a:srgbClr val="E8731A"/>
              </a:solidFill>
            </a:endParaRP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>
                <a:solidFill>
                  <a:srgbClr val="444444"/>
                </a:solidFill>
              </a:rPr>
              <a:t>ユーザが実行しなくても、Claudeが「使う</a:t>
            </a:r>
            <a:r>
              <a:rPr kumimoji="1" lang="ja-JP" altLang="en-US" sz="1400" dirty="0">
                <a:solidFill>
                  <a:srgbClr val="444444"/>
                </a:solidFill>
              </a:rPr>
              <a:t>べきか」を</a:t>
            </a:r>
            <a:r>
              <a:rPr kumimoji="1" lang="ja-JP" altLang="en-US" sz="1400">
                <a:solidFill>
                  <a:srgbClr val="444444"/>
                </a:solidFill>
              </a:rPr>
              <a:t>判断する条件。</a:t>
            </a:r>
            <a:r>
              <a:rPr kumimoji="1" lang="ja-JP" altLang="en-US" sz="1400" dirty="0">
                <a:solidFill>
                  <a:srgbClr val="444444"/>
                </a:solidFill>
              </a:rPr>
              <a:t>何をするか＋ユーザがどう言ったときか、を</a:t>
            </a:r>
            <a:r>
              <a:rPr kumimoji="1" lang="ja-JP" altLang="en-US" sz="1400">
                <a:solidFill>
                  <a:srgbClr val="444444"/>
                </a:solidFill>
              </a:rPr>
              <a:t>具体的に書く。</a:t>
            </a:r>
            <a:r>
              <a:rPr kumimoji="1" lang="ja-JP" altLang="en-US" sz="1400" dirty="0">
                <a:solidFill>
                  <a:srgbClr val="444444"/>
                </a:solidFill>
              </a:rPr>
              <a:t>曖昧だ</a:t>
            </a:r>
            <a:r>
              <a:rPr kumimoji="1" lang="ja-JP" altLang="en-US" sz="1400">
                <a:solidFill>
                  <a:srgbClr val="444444"/>
                </a:solidFill>
              </a:rPr>
              <a:t>と自動で使用されない</a:t>
            </a:r>
            <a:endParaRPr kumimoji="1" lang="ja-JP" altLang="en-US" sz="1400" dirty="0">
              <a:solidFill>
                <a:srgbClr val="444444"/>
              </a:solidFill>
            </a:endParaRPr>
          </a:p>
        </p:txBody>
      </p:sp>
      <p:sp>
        <p:nvSpPr>
          <p:cNvPr id="103" name="Shape 104"/>
          <p:cNvSpPr/>
          <p:nvPr/>
        </p:nvSpPr>
        <p:spPr>
          <a:xfrm>
            <a:off x="7518400" y="4165600"/>
            <a:ext cx="42164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2E8B57"/>
                </a:solidFill>
              </a:rPr>
              <a:t>本文 ＝ 手順書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番号付き手順＋禁止事項。長い参考資料は references/、決定的処理は scripts/ に分けて「読め」と指示する</a:t>
            </a:r>
          </a:p>
        </p:txBody>
      </p:sp>
    </p:spTree>
    <p:extLst>
      <p:ext uri="{BB962C8B-B14F-4D97-AF65-F5344CB8AC3E}">
        <p14:creationId xmlns:p14="http://schemas.microsoft.com/office/powerpoint/2010/main" val="58127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CAE59-BAFB-E664-DEC7-E2DB2DBD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研究室での Skills 活用例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A39A1C-374D-A895-4D8F-AC554AC1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「毎回同じ手順・同じ品質」が求められる作業ほど Skill 向き。研究室で共有すれば新人の立ち上げも速くなる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EA1F8D-2E18-11A0-16BF-E6180515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B12CB6-3904-7372-3552-8726B897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04F616-3959-13C3-2016-9FF94EB4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17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1848B29-FDCB-DE6B-D4D9-F5D9B9886B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運用の提案：研究室リポジトリに .claude/skills/ を置き、PR で追加・改訂する。Skill が「効かない」ときは description を具体化する。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/plot-style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論文用の図を規約通りに描く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フォント・サイズ・カラー・保存形式を統一。投稿先ごとに references/ を切り替え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「Fig.2 を Nature 形式で描き直して」</a:t>
            </a:r>
          </a:p>
        </p:txBody>
      </p:sp>
      <p:sp>
        <p:nvSpPr>
          <p:cNvPr id="101" name="Shape 102"/>
          <p:cNvSpPr/>
          <p:nvPr/>
        </p:nvSpPr>
        <p:spPr>
          <a:xfrm>
            <a:off x="4267200" y="13462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/analysis-report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解析 → Markdown レポート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データ概要・前処理・統計・図を定型フォーマットで出力。ゼミ資料の下書きに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「今日の結果を /analysis-report にまとめて」</a:t>
            </a:r>
          </a:p>
        </p:txBody>
      </p:sp>
      <p:sp>
        <p:nvSpPr>
          <p:cNvPr id="102" name="Shape 103"/>
          <p:cNvSpPr/>
          <p:nvPr/>
        </p:nvSpPr>
        <p:spPr>
          <a:xfrm>
            <a:off x="8077200" y="13462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/paper-summary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PDF 論文の構造化要約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目的・手法・結果・限界・自分たちの研究との関係、を固定項目で抽出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「この PDF を /paper-summary で」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34544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/new-experiment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実験フォルダの雛形生成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config.yaml・README・解析ノートブック・tests を規約通りに作成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「exp_2026_09_visual を作って」</a:t>
            </a:r>
          </a:p>
        </p:txBody>
      </p:sp>
      <p:sp>
        <p:nvSpPr>
          <p:cNvPr id="104" name="Shape 105"/>
          <p:cNvSpPr/>
          <p:nvPr/>
        </p:nvSpPr>
        <p:spPr>
          <a:xfrm>
            <a:off x="4267200" y="34544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/commit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規約に沿ったコミット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Conventional Commits 形式、日本語本文、関連 issue の紐付け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「/commit」</a:t>
            </a:r>
          </a:p>
        </p:txBody>
      </p:sp>
      <p:sp>
        <p:nvSpPr>
          <p:cNvPr id="105" name="Shape 106"/>
          <p:cNvSpPr/>
          <p:nvPr/>
        </p:nvSpPr>
        <p:spPr>
          <a:xfrm>
            <a:off x="8077200" y="3454400"/>
            <a:ext cx="3657600" cy="198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1F3C88"/>
                </a:solidFill>
                <a:latin typeface="Consolas"/>
                <a:ea typeface="游ゴシック"/>
              </a:rPr>
              <a:t>/review-analysis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800" b="1" dirty="0"/>
              <a:t>解析コードの妥当性チェック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444444"/>
                </a:solidFill>
              </a:rPr>
              <a:t>seed 固定・リーク・多重比較・単位の混在を観点リストで点検</a:t>
            </a:r>
          </a:p>
          <a:p>
            <a:pPr marL="0" indent="0">
              <a:spcBef>
                <a:spcPts val="300"/>
              </a:spcBef>
              <a:buNone/>
            </a:pPr>
            <a:r>
              <a:rPr kumimoji="1" lang="ja-JP" altLang="en-US" sz="1450" dirty="0">
                <a:solidFill>
                  <a:srgbClr val="E8731A"/>
                </a:solidFill>
              </a:rPr>
              <a:t>「stats.py を /review-analysis して」</a:t>
            </a:r>
          </a:p>
        </p:txBody>
      </p:sp>
    </p:spTree>
    <p:extLst>
      <p:ext uri="{BB962C8B-B14F-4D97-AF65-F5344CB8AC3E}">
        <p14:creationId xmlns:p14="http://schemas.microsoft.com/office/powerpoint/2010/main" val="1402253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24F80-6A00-28E3-E7DE-7C7C11A3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ハンズオン ③：Skill を作って使う（/plot-style）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A95F1-C5D4-66C9-6622-82878399C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ゴール：ラボ規約で図を描く Skill を作り、自動発火と明示呼び出しの両方を確認する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02DA05-D9F5-06F9-1F8F-9FC49675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F582A6-9D8F-1B8B-D090-81A2BD17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30F34-3F25-8A24-1504-1F6AB2B4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18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F7BAE53-E042-62E6-9C84-FAE0A09A8D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537200"/>
            <a:ext cx="11277600" cy="584200"/>
          </a:xfrm>
        </p:spPr>
        <p:txBody>
          <a:bodyPr numCol="1" anchor="ctr"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うまく発火しないとき：description が抽象的／Skill フォルダが新規作成直後（セッション再起動で認識）／同名の Skill が個人用と衝突。/help で Skill 一覧を確認できる。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b="1" dirty="0">
                <a:solidFill>
                  <a:srgbClr val="2E8B57"/>
                </a:solidFill>
              </a:rPr>
              <a:t>Antigravity の場合：</a:t>
            </a:r>
            <a:r>
              <a:rPr kumimoji="1" lang="ja-JP" altLang="en-US" sz="1400" dirty="0">
                <a:solidFill>
                  <a:srgbClr val="444444"/>
                </a:solidFill>
              </a:rPr>
              <a:t>置き場所を .agents/skills/plot-style/SKILL.md に読み替える。SKILL.md の中身（frontmatter＋手順）は完全に同じ。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716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Shape 102"/>
          <p:cNvSpPr/>
          <p:nvPr/>
        </p:nvSpPr>
        <p:spPr>
          <a:xfrm>
            <a:off x="1041400" y="1371600"/>
            <a:ext cx="3810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Skill を Claude 自身に書かせる</a:t>
            </a:r>
          </a:p>
        </p:txBody>
      </p:sp>
      <p:sp>
        <p:nvSpPr>
          <p:cNvPr id="102" name="Shape 103"/>
          <p:cNvSpPr/>
          <p:nvPr/>
        </p:nvSpPr>
        <p:spPr>
          <a:xfrm>
            <a:off x="4927600" y="1371600"/>
            <a:ext cx="68072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「.claude/skills/plot-style/SKILL.md を作って。内容は…（前々スライドの要件を貼る）」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1844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1041400" y="2184400"/>
            <a:ext cx="3810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生成された SKILL.md を確認・修正</a:t>
            </a:r>
          </a:p>
        </p:txBody>
      </p:sp>
      <p:sp>
        <p:nvSpPr>
          <p:cNvPr id="105" name="Shape 106"/>
          <p:cNvSpPr/>
          <p:nvPr/>
        </p:nvSpPr>
        <p:spPr>
          <a:xfrm>
            <a:off x="4927600" y="2184400"/>
            <a:ext cx="68072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description に「論文用の図」「投稿規定」などの言い回しが入っているか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29972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Shape 108"/>
          <p:cNvSpPr/>
          <p:nvPr/>
        </p:nvSpPr>
        <p:spPr>
          <a:xfrm>
            <a:off x="1041400" y="2997200"/>
            <a:ext cx="3810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>
                <a:solidFill>
                  <a:srgbClr val="1F3C88"/>
                </a:solidFill>
              </a:rPr>
              <a:t>明示呼び出し</a:t>
            </a:r>
            <a:r>
              <a:rPr kumimoji="1" lang="en-US" altLang="ja-JP" sz="1500" b="1" dirty="0">
                <a:solidFill>
                  <a:srgbClr val="1F3C88"/>
                </a:solidFill>
              </a:rPr>
              <a:t> or </a:t>
            </a:r>
            <a:r>
              <a:rPr kumimoji="1" lang="ja-JP" altLang="en-US" sz="1500" b="1">
                <a:solidFill>
                  <a:srgbClr val="1F3C88"/>
                </a:solidFill>
              </a:rPr>
              <a:t>自動使用</a:t>
            </a:r>
            <a:endParaRPr kumimoji="1" lang="ja-JP" altLang="en-US" sz="1500" b="1" dirty="0">
              <a:solidFill>
                <a:srgbClr val="1F3C88"/>
              </a:solidFill>
            </a:endParaRPr>
          </a:p>
        </p:txBody>
      </p:sp>
      <p:sp>
        <p:nvSpPr>
          <p:cNvPr id="108" name="Shape 109"/>
          <p:cNvSpPr/>
          <p:nvPr/>
        </p:nvSpPr>
        <p:spPr>
          <a:xfrm>
            <a:off x="4927600" y="2997200"/>
            <a:ext cx="68072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127000" rIns="127000" bIns="127000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300" dirty="0">
                <a:solidFill>
                  <a:srgbClr val="E6E6E6"/>
                </a:solidFill>
                <a:latin typeface="Consolas"/>
                <a:ea typeface="游ゴシック"/>
              </a:rPr>
              <a:t>/plot-style で results/summary.csv の群間比較を棒グラフ</a:t>
            </a:r>
            <a:r>
              <a:rPr kumimoji="1" lang="ja-JP" altLang="en-US" sz="1300">
                <a:solidFill>
                  <a:srgbClr val="E6E6E6"/>
                </a:solidFill>
                <a:latin typeface="Consolas"/>
                <a:ea typeface="游ゴシック"/>
              </a:rPr>
              <a:t>にして</a:t>
            </a:r>
            <a:endParaRPr kumimoji="1" lang="en-US" altLang="ja-JP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buNone/>
            </a:pPr>
            <a:r>
              <a:rPr lang="en-US" altLang="ja-JP" sz="1300" dirty="0">
                <a:solidFill>
                  <a:srgbClr val="E6E6E6"/>
                </a:solidFill>
                <a:latin typeface="Consolas"/>
                <a:ea typeface="游ゴシック"/>
              </a:rPr>
              <a:t>or </a:t>
            </a:r>
            <a:r>
              <a:rPr kumimoji="1" lang="ja-JP" altLang="en-US" sz="1300">
                <a:solidFill>
                  <a:srgbClr val="E6E6E6"/>
                </a:solidFill>
                <a:latin typeface="Consolas"/>
                <a:ea typeface="游ゴシック"/>
              </a:rPr>
              <a:t>（</a:t>
            </a:r>
            <a:r>
              <a:rPr kumimoji="1" lang="en-US" altLang="ja-JP" sz="1300" dirty="0">
                <a:solidFill>
                  <a:srgbClr val="E6E6E6"/>
                </a:solidFill>
                <a:latin typeface="Consolas"/>
                <a:ea typeface="游ゴシック"/>
              </a:rPr>
              <a:t>Skill </a:t>
            </a:r>
            <a:r>
              <a:rPr kumimoji="1" lang="ja-JP" altLang="en-US" sz="1300">
                <a:solidFill>
                  <a:srgbClr val="E6E6E6"/>
                </a:solidFill>
                <a:latin typeface="Consolas"/>
                <a:ea typeface="游ゴシック"/>
              </a:rPr>
              <a:t>名を言わずに）論文用に</a:t>
            </a:r>
            <a:r>
              <a:rPr kumimoji="1" lang="en-US" altLang="ja-JP" sz="1300" dirty="0">
                <a:solidFill>
                  <a:srgbClr val="E6E6E6"/>
                </a:solidFill>
                <a:latin typeface="Consolas"/>
                <a:ea typeface="游ゴシック"/>
              </a:rPr>
              <a:t>results/</a:t>
            </a:r>
            <a:r>
              <a:rPr kumimoji="1" lang="en-US" altLang="ja-JP" sz="1300" dirty="0" err="1">
                <a:solidFill>
                  <a:srgbClr val="E6E6E6"/>
                </a:solidFill>
                <a:latin typeface="Consolas"/>
                <a:ea typeface="游ゴシック"/>
              </a:rPr>
              <a:t>summary.csv</a:t>
            </a:r>
            <a:r>
              <a:rPr kumimoji="1" lang="ja-JP" altLang="en-US" sz="1300">
                <a:solidFill>
                  <a:srgbClr val="E6E6E6"/>
                </a:solidFill>
                <a:latin typeface="Consolas"/>
                <a:ea typeface="游ゴシック"/>
              </a:rPr>
              <a:t>の群間比較を棒グラフで作って</a:t>
            </a: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</p:txBody>
      </p:sp>
      <p:sp>
        <p:nvSpPr>
          <p:cNvPr id="109" name="Shape 110"/>
          <p:cNvSpPr/>
          <p:nvPr/>
        </p:nvSpPr>
        <p:spPr>
          <a:xfrm>
            <a:off x="457200" y="38100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Shape 111"/>
          <p:cNvSpPr/>
          <p:nvPr/>
        </p:nvSpPr>
        <p:spPr>
          <a:xfrm>
            <a:off x="1041400" y="3810000"/>
            <a:ext cx="3810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>
                <a:solidFill>
                  <a:srgbClr val="1F3C88"/>
                </a:solidFill>
              </a:rPr>
              <a:t>注意！</a:t>
            </a:r>
            <a:endParaRPr kumimoji="1" lang="ja-JP" altLang="en-US" sz="1500" b="1" dirty="0">
              <a:solidFill>
                <a:srgbClr val="1F3C88"/>
              </a:solidFill>
            </a:endParaRPr>
          </a:p>
        </p:txBody>
      </p:sp>
      <p:sp>
        <p:nvSpPr>
          <p:cNvPr id="111" name="Shape 112"/>
          <p:cNvSpPr/>
          <p:nvPr/>
        </p:nvSpPr>
        <p:spPr>
          <a:xfrm>
            <a:off x="4927600" y="3810000"/>
            <a:ext cx="68072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400">
                <a:solidFill>
                  <a:srgbClr val="444444"/>
                </a:solidFill>
              </a:rPr>
              <a:t>上記の</a:t>
            </a:r>
            <a:r>
              <a:rPr kumimoji="1" lang="en-US" altLang="ja-JP" sz="1400" dirty="0">
                <a:solidFill>
                  <a:srgbClr val="444444"/>
                </a:solidFill>
              </a:rPr>
              <a:t>Skill</a:t>
            </a:r>
            <a:r>
              <a:rPr kumimoji="1" lang="ja-JP" altLang="en-US" sz="1400">
                <a:solidFill>
                  <a:srgbClr val="444444"/>
                </a:solidFill>
              </a:rPr>
              <a:t>は</a:t>
            </a:r>
            <a:r>
              <a:rPr kumimoji="1" lang="en-US" altLang="ja-JP" sz="1400" dirty="0" err="1">
                <a:solidFill>
                  <a:srgbClr val="444444"/>
                </a:solidFill>
              </a:rPr>
              <a:t>claude</a:t>
            </a:r>
            <a:r>
              <a:rPr kumimoji="1" lang="ja-JP" altLang="en-US" sz="1400">
                <a:solidFill>
                  <a:srgbClr val="444444"/>
                </a:solidFill>
              </a:rPr>
              <a:t>起動時に自動で読み込まれるので，作成したばかりの</a:t>
            </a:r>
            <a:r>
              <a:rPr kumimoji="1" lang="en-US" altLang="ja-JP" sz="1400" dirty="0">
                <a:solidFill>
                  <a:srgbClr val="444444"/>
                </a:solidFill>
              </a:rPr>
              <a:t>Skill</a:t>
            </a:r>
            <a:r>
              <a:rPr kumimoji="1" lang="ja-JP" altLang="en-US" sz="1400">
                <a:solidFill>
                  <a:srgbClr val="444444"/>
                </a:solidFill>
              </a:rPr>
              <a:t>は参照されない。試して見るときは，</a:t>
            </a:r>
            <a:r>
              <a:rPr kumimoji="1" lang="en-US" altLang="ja-JP" sz="1400" dirty="0">
                <a:solidFill>
                  <a:srgbClr val="444444"/>
                </a:solidFill>
              </a:rPr>
              <a:t>/clear</a:t>
            </a:r>
            <a:r>
              <a:rPr kumimoji="1" lang="ja-JP" altLang="en-US" sz="1400">
                <a:solidFill>
                  <a:srgbClr val="444444"/>
                </a:solidFill>
              </a:rPr>
              <a:t>で会話をリセット</a:t>
            </a:r>
            <a:r>
              <a:rPr kumimoji="1" lang="en-US" altLang="ja-JP" sz="1400" dirty="0">
                <a:solidFill>
                  <a:srgbClr val="444444"/>
                </a:solidFill>
              </a:rPr>
              <a:t>or</a:t>
            </a:r>
            <a:r>
              <a:rPr kumimoji="1" lang="ja-JP" altLang="en-US" sz="1400">
                <a:solidFill>
                  <a:srgbClr val="444444"/>
                </a:solidFill>
              </a:rPr>
              <a:t>新しい</a:t>
            </a:r>
            <a:r>
              <a:rPr kumimoji="1" lang="en-US" altLang="ja-JP" sz="1400" dirty="0" err="1">
                <a:solidFill>
                  <a:srgbClr val="444444"/>
                </a:solidFill>
              </a:rPr>
              <a:t>claude</a:t>
            </a:r>
            <a:r>
              <a:rPr kumimoji="1" lang="ja-JP" altLang="en-US" sz="1400">
                <a:solidFill>
                  <a:srgbClr val="444444"/>
                </a:solidFill>
              </a:rPr>
              <a:t>を立ち上げてみる</a:t>
            </a:r>
            <a:endParaRPr kumimoji="1" lang="ja-JP" altLang="en-US" sz="1400" dirty="0">
              <a:solidFill>
                <a:srgbClr val="444444"/>
              </a:solidFill>
            </a:endParaRPr>
          </a:p>
        </p:txBody>
      </p:sp>
      <p:sp>
        <p:nvSpPr>
          <p:cNvPr id="112" name="Shape 113"/>
          <p:cNvSpPr/>
          <p:nvPr/>
        </p:nvSpPr>
        <p:spPr>
          <a:xfrm>
            <a:off x="457200" y="46228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3" name="Shape 114"/>
          <p:cNvSpPr/>
          <p:nvPr/>
        </p:nvSpPr>
        <p:spPr>
          <a:xfrm>
            <a:off x="1041400" y="4622800"/>
            <a:ext cx="3810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コミットして共有</a:t>
            </a:r>
          </a:p>
        </p:txBody>
      </p:sp>
      <p:sp>
        <p:nvSpPr>
          <p:cNvPr id="114" name="Shape 115"/>
          <p:cNvSpPr/>
          <p:nvPr/>
        </p:nvSpPr>
        <p:spPr>
          <a:xfrm>
            <a:off x="4927600" y="4622800"/>
            <a:ext cx="68072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git add .claude/skills → git commit → 研究室の全員が同じ Skill を使える</a:t>
            </a:r>
          </a:p>
        </p:txBody>
      </p:sp>
    </p:spTree>
    <p:extLst>
      <p:ext uri="{BB962C8B-B14F-4D97-AF65-F5344CB8AC3E}">
        <p14:creationId xmlns:p14="http://schemas.microsoft.com/office/powerpoint/2010/main" val="244950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A43EE4-07C1-BCF7-41AB-7238A6F1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Subagents とは：専門担当を切り出して「別のコンテキスト」で働かせる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483B2F-9734-1BAF-ED55-1A7068C0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メインの Claude が「レビュー担当」「テスト担当」など専任のサブエージェントに仕事を委任し、結果だけを受け取る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ECEFE9-DCFB-21DB-C97D-894A1C07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2F25C-1E11-423B-FF83-152FD0E8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CCB36-483E-4F3B-0F95-9A5EE8F1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19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EBAF049-2551-D4B5-D1BA-33386A9CB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62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Skill との違い：Skill は「手順書」をメインが読んで実行する。Subagent は「別人格・別コンテキスト」で実行し結果だけ返す。置き場所は .claude/agents/（プロジェクト）または ~/.claude/agents/（個人）。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3810000" cy="7620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600" b="1" dirty="0">
                <a:solidFill>
                  <a:srgbClr val="FFFFFF"/>
                </a:solidFill>
              </a:rPr>
              <a:t>メイン セッション</a:t>
            </a:r>
          </a:p>
          <a:p>
            <a:pPr marL="0" indent="0" algn="ctr"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あなたと会話・全体を統括</a:t>
            </a:r>
          </a:p>
        </p:txBody>
      </p:sp>
      <p:sp>
        <p:nvSpPr>
          <p:cNvPr id="101" name="Shape 102"/>
          <p:cNvSpPr/>
          <p:nvPr/>
        </p:nvSpPr>
        <p:spPr>
          <a:xfrm>
            <a:off x="457200" y="2108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200" b="1" dirty="0">
                <a:solidFill>
                  <a:srgbClr val="1F3C88"/>
                </a:solidFill>
              </a:rPr>
              <a:t>↓ 委任　↑ 結果</a:t>
            </a:r>
          </a:p>
        </p:txBody>
      </p:sp>
      <p:sp>
        <p:nvSpPr>
          <p:cNvPr id="102" name="Shape 103"/>
          <p:cNvSpPr/>
          <p:nvPr/>
        </p:nvSpPr>
        <p:spPr>
          <a:xfrm>
            <a:off x="457200" y="2387600"/>
            <a:ext cx="1219200" cy="990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200" b="1" dirty="0">
                <a:solidFill>
                  <a:srgbClr val="1F3C88"/>
                </a:solidFill>
                <a:latin typeface="Consolas"/>
                <a:ea typeface="游ゴシック"/>
              </a:rPr>
              <a:t>reviewer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200" dirty="0">
                <a:solidFill>
                  <a:srgbClr val="444444"/>
                </a:solidFill>
              </a:rPr>
              <a:t>読む・指摘のみ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100" dirty="0">
                <a:solidFill>
                  <a:srgbClr val="2E8B57"/>
                </a:solidFill>
              </a:rPr>
              <a:t>Read, Grep</a:t>
            </a:r>
          </a:p>
        </p:txBody>
      </p:sp>
      <p:sp>
        <p:nvSpPr>
          <p:cNvPr id="103" name="Shape 104"/>
          <p:cNvSpPr/>
          <p:nvPr/>
        </p:nvSpPr>
        <p:spPr>
          <a:xfrm>
            <a:off x="1752600" y="2387600"/>
            <a:ext cx="1219200" cy="990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200" b="1" dirty="0">
                <a:solidFill>
                  <a:srgbClr val="1F3C88"/>
                </a:solidFill>
                <a:latin typeface="Consolas"/>
                <a:ea typeface="游ゴシック"/>
              </a:rPr>
              <a:t>tester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200" dirty="0">
                <a:solidFill>
                  <a:srgbClr val="444444"/>
                </a:solidFill>
              </a:rPr>
              <a:t>テスト作成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100" dirty="0">
                <a:solidFill>
                  <a:srgbClr val="2E8B57"/>
                </a:solidFill>
              </a:rPr>
              <a:t>Read, Edit, Bash</a:t>
            </a:r>
          </a:p>
        </p:txBody>
      </p:sp>
      <p:sp>
        <p:nvSpPr>
          <p:cNvPr id="104" name="Shape 105"/>
          <p:cNvSpPr/>
          <p:nvPr/>
        </p:nvSpPr>
        <p:spPr>
          <a:xfrm>
            <a:off x="3048000" y="2387600"/>
            <a:ext cx="1219200" cy="990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00A0E0"/>
            </a:solidFill>
          </a:ln>
        </p:spPr>
        <p:txBody>
          <a:bodyPr wrap="square" lIns="50800" tIns="50800" rIns="50800" bIns="508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200" b="1" dirty="0">
                <a:solidFill>
                  <a:srgbClr val="1F3C88"/>
                </a:solidFill>
                <a:latin typeface="Consolas"/>
                <a:ea typeface="游ゴシック"/>
              </a:rPr>
              <a:t>explorer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200" dirty="0">
                <a:solidFill>
                  <a:srgbClr val="444444"/>
                </a:solidFill>
              </a:rPr>
              <a:t>調査専門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100" dirty="0">
                <a:solidFill>
                  <a:srgbClr val="2E8B57"/>
                </a:solidFill>
              </a:rPr>
              <a:t>内蔵</a:t>
            </a:r>
          </a:p>
        </p:txBody>
      </p:sp>
      <p:sp>
        <p:nvSpPr>
          <p:cNvPr id="105" name="Shape 106"/>
          <p:cNvSpPr/>
          <p:nvPr/>
        </p:nvSpPr>
        <p:spPr>
          <a:xfrm>
            <a:off x="457200" y="3556000"/>
            <a:ext cx="3810000" cy="193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731A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600" b="1" dirty="0">
                <a:solidFill>
                  <a:srgbClr val="E8731A"/>
                </a:solidFill>
              </a:rPr>
              <a:t>なぜ分けるか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kumimoji="1" lang="ja-JP" altLang="en-US" sz="1400" dirty="0"/>
              <a:t>コンテキスト独立：メインが汚れない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kumimoji="1" lang="ja-JP" altLang="en-US" sz="1400" dirty="0"/>
              <a:t>ツール制限：レビュー担当は編集不可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kumimoji="1" lang="ja-JP" altLang="en-US" sz="1400" dirty="0"/>
              <a:t>役割ごとに専用の指示を固定できる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kumimoji="1" lang="ja-JP" altLang="en-US" sz="1400" dirty="0"/>
              <a:t>並列実行：調査と実装を同時進行</a:t>
            </a:r>
          </a:p>
        </p:txBody>
      </p:sp>
      <p:sp>
        <p:nvSpPr>
          <p:cNvPr id="106" name="Shape 107"/>
          <p:cNvSpPr/>
          <p:nvPr/>
        </p:nvSpPr>
        <p:spPr>
          <a:xfrm>
            <a:off x="4470400" y="1346200"/>
            <a:ext cx="7264400" cy="414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203200" tIns="203200" rIns="203200" bIns="2032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2E8B57"/>
                </a:solidFill>
                <a:latin typeface="Consolas"/>
                <a:ea typeface="游ゴシック"/>
              </a:rPr>
              <a:t># .claude/agents/code-reviewer.md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---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name</a:t>
            </a:r>
            <a:r>
              <a:rPr kumimoji="1" lang="ja-JP" altLang="en-US" sz="1350">
                <a:solidFill>
                  <a:srgbClr val="F5C400"/>
                </a:solidFill>
                <a:latin typeface="Consolas"/>
                <a:ea typeface="游ゴシック"/>
              </a:rPr>
              <a:t>: </a:t>
            </a:r>
            <a:r>
              <a:rPr kumimoji="1" lang="en-US" altLang="ja-JP" sz="1350" dirty="0">
                <a:solidFill>
                  <a:srgbClr val="F5C400"/>
                </a:solidFill>
                <a:latin typeface="Consolas"/>
                <a:ea typeface="游ゴシック"/>
              </a:rPr>
              <a:t>code-</a:t>
            </a:r>
            <a:r>
              <a:rPr kumimoji="1" lang="ja-JP" altLang="en-US" sz="1350">
                <a:solidFill>
                  <a:srgbClr val="E6E6E6"/>
                </a:solidFill>
                <a:latin typeface="Consolas"/>
                <a:ea typeface="游ゴシック"/>
              </a:rPr>
              <a:t>reviewer</a:t>
            </a:r>
            <a:endParaRPr kumimoji="1" lang="ja-JP" altLang="en-US" sz="135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description: </a:t>
            </a: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解析コードの妥当性レビュー担当。統計手法・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データリーク・再現性の観点で指摘する。コードの変更は行わない。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実装が終わった直後や「レビューして」と言われたら必ず使う。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tools: </a:t>
            </a: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Read, Grep, Glob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model</a:t>
            </a:r>
            <a:r>
              <a:rPr kumimoji="1" lang="ja-JP" altLang="en-US" sz="1350">
                <a:solidFill>
                  <a:srgbClr val="F5C400"/>
                </a:solidFill>
                <a:latin typeface="Consolas"/>
                <a:ea typeface="游ゴシック"/>
              </a:rPr>
              <a:t>: </a:t>
            </a:r>
            <a:r>
              <a:rPr kumimoji="1" lang="en-US" altLang="ja-JP" sz="1350" dirty="0">
                <a:solidFill>
                  <a:srgbClr val="E6E6E6"/>
                </a:solidFill>
                <a:latin typeface="Consolas"/>
                <a:ea typeface="游ゴシック"/>
              </a:rPr>
              <a:t>sonnet</a:t>
            </a:r>
            <a:endParaRPr kumimoji="1" lang="ja-JP" altLang="en-US" sz="135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F5C400"/>
                </a:solidFill>
                <a:latin typeface="Consolas"/>
                <a:ea typeface="游ゴシック"/>
              </a:rPr>
              <a:t>---</a:t>
            </a:r>
          </a:p>
          <a:p>
            <a:pPr marL="0" indent="0">
              <a:spcBef>
                <a:spcPts val="80"/>
              </a:spcBef>
              <a:buNone/>
            </a:pPr>
            <a:endParaRPr kumimoji="1" lang="ja-JP" altLang="en-US" sz="1300" dirty="0">
              <a:solidFill>
                <a:srgbClr val="F5C400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あなたは研究室のシニア研究員として解析コードをレビューする。</a:t>
            </a:r>
          </a:p>
          <a:p>
            <a:pPr marL="0" indent="0">
              <a:spcBef>
                <a:spcPts val="8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8731A"/>
                </a:solidFill>
                <a:latin typeface="Consolas"/>
                <a:ea typeface="游ゴシック"/>
              </a:rPr>
              <a:t>## 観点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- 乱数 seed が固定されているか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- train/test のリーク（前処理の統計量を全データで計算していないか）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- 多重比較の補正、単位・スケールの混在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- data/raw への書き込みがないか</a:t>
            </a:r>
          </a:p>
          <a:p>
            <a:pPr marL="0" indent="0">
              <a:spcBef>
                <a:spcPts val="80"/>
              </a:spcBef>
              <a:buNone/>
            </a:pPr>
            <a:endParaRPr kumimoji="1" lang="ja-JP" altLang="en-US" sz="130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8731A"/>
                </a:solidFill>
                <a:latin typeface="Consolas"/>
                <a:ea typeface="游ゴシック"/>
              </a:rPr>
              <a:t>## 出力形式</a:t>
            </a:r>
          </a:p>
          <a:p>
            <a:pPr marL="0" indent="0">
              <a:spcBef>
                <a:spcPts val="8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重大 / 中 / 軽微 に分類し、ファイル名と行番号を添えて箇条書き</a:t>
            </a:r>
          </a:p>
        </p:txBody>
      </p:sp>
    </p:spTree>
    <p:extLst>
      <p:ext uri="{BB962C8B-B14F-4D97-AF65-F5344CB8AC3E}">
        <p14:creationId xmlns:p14="http://schemas.microsoft.com/office/powerpoint/2010/main" val="8844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C62720-EE91-93F7-4DB1-9D9B6834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ハンズオン ④：Subagent に「レビュー」と「テスト」を分担させる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9FC137-E901-9DD5-1D57-CE5578F4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ゴール：編集できないレビュー担当と、テスト専任の担当を定義し、ハンズオン②のコードを 2 人体制で仕上げる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B4637-7C1B-8D66-21A0-40DD610E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A11926-94D9-2D00-CE20-BDAB754E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D8CA5B-6F60-5075-2FD4-FE8C3CF3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20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261A5C6-3A6C-E96B-4713-CD6A7785F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537200"/>
            <a:ext cx="11277600" cy="584200"/>
          </a:xfrm>
        </p:spPr>
        <p:txBody>
          <a:bodyPr numCol="1" anchor="ctr"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設計の原則：レビュー担当には Edit/Write を渡さない（最小権限）／description に「いつ使うか」を書けば、次回からは「レビューして」だけで自動委任される。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ja-JP" altLang="en-US" sz="1400" b="1" dirty="0">
                <a:solidFill>
                  <a:srgbClr val="2E8B57"/>
                </a:solidFill>
              </a:rPr>
              <a:t>Antigravity の場合：</a:t>
            </a:r>
            <a:r>
              <a:rPr kumimoji="1" lang="ja-JP" altLang="en-US" sz="1400" dirty="0">
                <a:solidFill>
                  <a:srgbClr val="444444"/>
                </a:solidFill>
              </a:rPr>
              <a:t>定義ファイルの形式が異なるため、本日はデモを観察して「役割分担・最小権限・コンテキスト分離」の考え方を持ち帰る。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716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Shape 102"/>
          <p:cNvSpPr/>
          <p:nvPr/>
        </p:nvSpPr>
        <p:spPr>
          <a:xfrm>
            <a:off x="1041400" y="1371600"/>
            <a:ext cx="3429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2 つの Subagent を Claude に書かせる</a:t>
            </a:r>
          </a:p>
        </p:txBody>
      </p:sp>
      <p:sp>
        <p:nvSpPr>
          <p:cNvPr id="102" name="Shape 103"/>
          <p:cNvSpPr/>
          <p:nvPr/>
        </p:nvSpPr>
        <p:spPr>
          <a:xfrm>
            <a:off x="4546600" y="1371600"/>
            <a:ext cx="71882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「.claude/agents/ に code</a:t>
            </a:r>
            <a:r>
              <a:rPr kumimoji="1"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-reviewerを（</a:t>
            </a:r>
            <a:r>
              <a:rPr kumimoji="1" lang="ja-JP" altLang="en-US" sz="1400" dirty="0">
                <a:solidFill>
                  <a:srgbClr val="E6E6E6"/>
                </a:solidFill>
                <a:latin typeface="Consolas"/>
                <a:ea typeface="游ゴシック"/>
              </a:rPr>
              <a:t>前スライド</a:t>
            </a:r>
            <a:r>
              <a:rPr kumimoji="1"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の内容）で作って」</a:t>
            </a:r>
            <a:endParaRPr kumimoji="1" lang="en-US" altLang="ja-JP" sz="1400" dirty="0">
              <a:solidFill>
                <a:srgbClr val="E6E6E6"/>
              </a:solidFill>
              <a:latin typeface="Consolas"/>
              <a:ea typeface="游ゴシック"/>
            </a:endParaRPr>
          </a:p>
        </p:txBody>
      </p:sp>
      <p:sp>
        <p:nvSpPr>
          <p:cNvPr id="103" name="Shape 104"/>
          <p:cNvSpPr/>
          <p:nvPr/>
        </p:nvSpPr>
        <p:spPr>
          <a:xfrm>
            <a:off x="457200" y="21844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1041400" y="2184400"/>
            <a:ext cx="3429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r>
              <a:rPr lang="ja-JP" altLang="en-US" sz="1500" b="1">
                <a:solidFill>
                  <a:srgbClr val="1F3C88"/>
                </a:solidFill>
              </a:rPr>
              <a:t>レビューを委任する</a:t>
            </a:r>
          </a:p>
        </p:txBody>
      </p:sp>
      <p:sp>
        <p:nvSpPr>
          <p:cNvPr id="105" name="Shape 106"/>
          <p:cNvSpPr/>
          <p:nvPr/>
        </p:nvSpPr>
        <p:spPr>
          <a:xfrm>
            <a:off x="4546600" y="2184400"/>
            <a:ext cx="71882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>
                <a:solidFill>
                  <a:srgbClr val="444444"/>
                </a:solidFill>
              </a:rPr>
              <a:t>「</a:t>
            </a:r>
            <a:r>
              <a:rPr kumimoji="1" lang="en-US" altLang="ja-JP" sz="1400" dirty="0">
                <a:solidFill>
                  <a:srgbClr val="444444"/>
                </a:solidFill>
              </a:rPr>
              <a:t>code-reviewer </a:t>
            </a:r>
            <a:r>
              <a:rPr kumimoji="1" lang="ja-JP" altLang="en-US" sz="1400">
                <a:solidFill>
                  <a:srgbClr val="444444"/>
                </a:solidFill>
              </a:rPr>
              <a:t>に </a:t>
            </a:r>
            <a:r>
              <a:rPr kumimoji="1" lang="en-US" altLang="ja-JP" sz="1400" dirty="0" err="1">
                <a:solidFill>
                  <a:srgbClr val="444444"/>
                </a:solidFill>
              </a:rPr>
              <a:t>load_data.py</a:t>
            </a:r>
            <a:r>
              <a:rPr kumimoji="1" lang="en-US" altLang="ja-JP" sz="1400" dirty="0">
                <a:solidFill>
                  <a:srgbClr val="444444"/>
                </a:solidFill>
              </a:rPr>
              <a:t> </a:t>
            </a:r>
            <a:r>
              <a:rPr kumimoji="1" lang="ja-JP" altLang="en-US" sz="1400">
                <a:solidFill>
                  <a:srgbClr val="444444"/>
                </a:solidFill>
              </a:rPr>
              <a:t>と </a:t>
            </a:r>
            <a:r>
              <a:rPr kumimoji="1" lang="en-US" altLang="ja-JP" sz="1400" dirty="0" err="1">
                <a:solidFill>
                  <a:srgbClr val="444444"/>
                </a:solidFill>
              </a:rPr>
              <a:t>stats.py</a:t>
            </a:r>
            <a:r>
              <a:rPr kumimoji="1" lang="en-US" altLang="ja-JP" sz="1400" dirty="0">
                <a:solidFill>
                  <a:srgbClr val="444444"/>
                </a:solidFill>
              </a:rPr>
              <a:t> </a:t>
            </a:r>
            <a:r>
              <a:rPr kumimoji="1" lang="ja-JP" altLang="en-US" sz="1400">
                <a:solidFill>
                  <a:srgbClr val="444444"/>
                </a:solidFill>
              </a:rPr>
              <a:t>をレビューさせて。結果を重大度順にまとめて」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2997200"/>
            <a:ext cx="508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Shape 108"/>
          <p:cNvSpPr/>
          <p:nvPr/>
        </p:nvSpPr>
        <p:spPr>
          <a:xfrm>
            <a:off x="1041400" y="2997200"/>
            <a:ext cx="34290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r>
              <a:rPr lang="ja-JP" altLang="en-US" sz="1500" b="1">
                <a:solidFill>
                  <a:srgbClr val="1F3C88"/>
                </a:solidFill>
              </a:rPr>
              <a:t>/</a:t>
            </a:r>
            <a:r>
              <a:rPr lang="en-US" altLang="ja-JP" sz="1500" b="1" dirty="0">
                <a:solidFill>
                  <a:srgbClr val="1F3C88"/>
                </a:solidFill>
              </a:rPr>
              <a:t>list-</a:t>
            </a:r>
            <a:r>
              <a:rPr lang="ja-JP" altLang="en-US" sz="1500" b="1">
                <a:solidFill>
                  <a:srgbClr val="1F3C88"/>
                </a:solidFill>
              </a:rPr>
              <a:t>agents で一覧を確認</a:t>
            </a:r>
            <a:endParaRPr lang="ja-JP" altLang="en-US" sz="1500" b="1" dirty="0">
              <a:solidFill>
                <a:srgbClr val="1F3C88"/>
              </a:solidFill>
            </a:endParaRPr>
          </a:p>
        </p:txBody>
      </p:sp>
      <p:sp>
        <p:nvSpPr>
          <p:cNvPr id="108" name="Shape 109"/>
          <p:cNvSpPr/>
          <p:nvPr/>
        </p:nvSpPr>
        <p:spPr>
          <a:xfrm>
            <a:off x="4546600" y="2997200"/>
            <a:ext cx="7188200" cy="711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1400" dirty="0" err="1">
                <a:solidFill>
                  <a:srgbClr val="E6E6E6"/>
                </a:solidFill>
                <a:latin typeface="Consolas"/>
                <a:ea typeface="游ゴシック"/>
              </a:rPr>
              <a:t>Subgents</a:t>
            </a:r>
            <a:r>
              <a:rPr kumimoji="1" lang="ja-JP" altLang="en-US" sz="1400">
                <a:solidFill>
                  <a:srgbClr val="E6E6E6"/>
                </a:solidFill>
                <a:latin typeface="Consolas"/>
                <a:ea typeface="游ゴシック"/>
              </a:rPr>
              <a:t>が認識されているか確認可</a:t>
            </a:r>
            <a:endParaRPr kumimoji="1" lang="ja-JP" altLang="en-US" sz="1400" dirty="0">
              <a:solidFill>
                <a:srgbClr val="E6E6E6"/>
              </a:solidFill>
              <a:latin typeface="Consolas"/>
              <a:ea typeface="游ゴシック"/>
            </a:endParaRPr>
          </a:p>
        </p:txBody>
      </p:sp>
      <p:sp>
        <p:nvSpPr>
          <p:cNvPr id="113" name="Shape 114"/>
          <p:cNvSpPr/>
          <p:nvPr/>
        </p:nvSpPr>
        <p:spPr>
          <a:xfrm>
            <a:off x="457200" y="4622800"/>
            <a:ext cx="4013200" cy="711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>
                <a:solidFill>
                  <a:srgbClr val="1F3C88"/>
                </a:solidFill>
              </a:rPr>
              <a:t>ついでに</a:t>
            </a:r>
            <a:endParaRPr kumimoji="1" lang="ja-JP" altLang="en-US" sz="1500" b="1" dirty="0">
              <a:solidFill>
                <a:srgbClr val="1F3C88"/>
              </a:solidFill>
            </a:endParaRPr>
          </a:p>
        </p:txBody>
      </p:sp>
      <p:sp>
        <p:nvSpPr>
          <p:cNvPr id="114" name="Shape 115"/>
          <p:cNvSpPr/>
          <p:nvPr/>
        </p:nvSpPr>
        <p:spPr>
          <a:xfrm>
            <a:off x="4546600" y="4622800"/>
            <a:ext cx="71882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/context でメインの消費量を確認。大量の読み込みがメインに入っていないことを見る</a:t>
            </a:r>
          </a:p>
        </p:txBody>
      </p:sp>
    </p:spTree>
    <p:extLst>
      <p:ext uri="{BB962C8B-B14F-4D97-AF65-F5344CB8AC3E}">
        <p14:creationId xmlns:p14="http://schemas.microsoft.com/office/powerpoint/2010/main" val="3226046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9CA44-E491-8ADF-F9F7-E368AA6A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発展編：Hooks・ヘッドレス実行・MCP（概要のみ）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3F04DF-69AF-B479-80E6-0E596866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今日は「こういうものがある」と知っておけば十分。必要になったときに公式ドキュメントへ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1B41C-8FDE-D9E0-BF39-87405B6C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683361-A28E-4F7D-BBAF-D49D7B26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841726-45C7-048E-AA26-B00C9E1A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21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09E68A6-B249-C634-BBC2-5A58FF0D15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優先順位の目安：CLAUDE.md → Skills → 権限設定 → Subagents → Hooks → MCP。左から順に整えると、少ない手間で効果が大きい。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3556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76200" tIns="76200" rIns="76200" bIns="762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Hooks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決まったタイミングで自動実行するコマンド</a:t>
            </a:r>
          </a:p>
        </p:txBody>
      </p:sp>
      <p:sp>
        <p:nvSpPr>
          <p:cNvPr id="101" name="Shape 102"/>
          <p:cNvSpPr/>
          <p:nvPr/>
        </p:nvSpPr>
        <p:spPr>
          <a:xfrm>
            <a:off x="457200" y="2184400"/>
            <a:ext cx="3556000" cy="1092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研究室での用途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編集のたびに ruff format を自動実行／危険なコマンドをブロック／作業終了時に通知</a:t>
            </a:r>
          </a:p>
        </p:txBody>
      </p:sp>
      <p:sp>
        <p:nvSpPr>
          <p:cNvPr id="102" name="Shape 103"/>
          <p:cNvSpPr/>
          <p:nvPr/>
        </p:nvSpPr>
        <p:spPr>
          <a:xfrm>
            <a:off x="457200" y="3403600"/>
            <a:ext cx="3556000" cy="2082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.claude/settings.json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"hooks": {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"PostToolUse": [{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  "matcher": "Edit|Write",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  "hooks": [{"type": "command",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    "command": "ruff format $FILE"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  }]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}]
}</a:t>
            </a:r>
          </a:p>
        </p:txBody>
      </p:sp>
      <p:sp>
        <p:nvSpPr>
          <p:cNvPr id="103" name="Shape 104"/>
          <p:cNvSpPr/>
          <p:nvPr/>
        </p:nvSpPr>
        <p:spPr>
          <a:xfrm>
            <a:off x="4318000" y="1346200"/>
            <a:ext cx="3556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76200" tIns="76200" rIns="76200" bIns="762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ヘッドレス実行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対話なしで 1 回実行し、結果を出力</a:t>
            </a:r>
          </a:p>
        </p:txBody>
      </p:sp>
      <p:sp>
        <p:nvSpPr>
          <p:cNvPr id="104" name="Shape 105"/>
          <p:cNvSpPr/>
          <p:nvPr/>
        </p:nvSpPr>
        <p:spPr>
          <a:xfrm>
            <a:off x="4318000" y="2184400"/>
            <a:ext cx="3556000" cy="1092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研究室での用途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毎朝のデータ品質チェック／CI でのコードレビュー／論文要約のバッチ処理</a:t>
            </a:r>
          </a:p>
        </p:txBody>
      </p:sp>
      <p:sp>
        <p:nvSpPr>
          <p:cNvPr id="105" name="Shape 106"/>
          <p:cNvSpPr/>
          <p:nvPr/>
        </p:nvSpPr>
        <p:spPr>
          <a:xfrm>
            <a:off x="4318000" y="3403600"/>
            <a:ext cx="3556000" cy="2082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1 回だけ質問して終了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claude -p "テスト失敗の原因を要約"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25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パイプで渡す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cat results.log | claude -p \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"異常値をリストにして"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25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cron / GitHub Actions から呼べる</a:t>
            </a:r>
          </a:p>
        </p:txBody>
      </p:sp>
      <p:sp>
        <p:nvSpPr>
          <p:cNvPr id="106" name="Shape 107"/>
          <p:cNvSpPr/>
          <p:nvPr/>
        </p:nvSpPr>
        <p:spPr>
          <a:xfrm>
            <a:off x="8178800" y="1346200"/>
            <a:ext cx="3556000" cy="7112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76200" tIns="76200" rIns="76200" bIns="76200" anchor="ctr">
            <a:normAutofit fontScale="92500"/>
          </a:bodyPr>
          <a:lstStyle/>
          <a:p>
            <a:pPr marL="0" indent="0" algn="ctr">
              <a:buNone/>
            </a:pPr>
            <a:r>
              <a:rPr kumimoji="1" lang="ja-JP" altLang="en-US" sz="1700" b="1" dirty="0">
                <a:solidFill>
                  <a:srgbClr val="FFFFFF"/>
                </a:solidFill>
              </a:rPr>
              <a:t>MCP（Model Context Protocol）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kumimoji="1" lang="ja-JP" altLang="en-US" sz="1300" dirty="0">
                <a:solidFill>
                  <a:srgbClr val="FFFFFF"/>
                </a:solidFill>
              </a:rPr>
              <a:t>外部ツールを接続するための共通規格</a:t>
            </a:r>
          </a:p>
        </p:txBody>
      </p:sp>
      <p:sp>
        <p:nvSpPr>
          <p:cNvPr id="107" name="Shape 108"/>
          <p:cNvSpPr/>
          <p:nvPr/>
        </p:nvSpPr>
        <p:spPr>
          <a:xfrm>
            <a:off x="8178800" y="2184400"/>
            <a:ext cx="3556000" cy="1092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400" b="1" dirty="0">
                <a:solidFill>
                  <a:srgbClr val="1F3C88"/>
                </a:solidFill>
              </a:rPr>
              <a:t>研究室での用途</a:t>
            </a:r>
          </a:p>
          <a:p>
            <a:pPr marL="0" indent="0">
              <a:spcBef>
                <a:spcPts val="1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ブラウザ操作（Playwright）／GitHub の issue 操作／DB 照会／論文 DB 検索</a:t>
            </a:r>
          </a:p>
        </p:txBody>
      </p:sp>
      <p:sp>
        <p:nvSpPr>
          <p:cNvPr id="108" name="Shape 109"/>
          <p:cNvSpPr/>
          <p:nvPr/>
        </p:nvSpPr>
        <p:spPr>
          <a:xfrm>
            <a:off x="8178800" y="3403600"/>
            <a:ext cx="3556000" cy="2082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サーバーを登録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claude mcp add playwright -- \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npx @playwright/mcp@latest</a:t>
            </a:r>
          </a:p>
          <a:p>
            <a:pPr marL="0" indent="0">
              <a:spcBef>
                <a:spcPts val="150"/>
              </a:spcBef>
              <a:buNone/>
            </a:pPr>
            <a:endParaRPr kumimoji="1" lang="ja-JP" altLang="en-US" sz="1250" dirty="0">
              <a:solidFill>
                <a:srgbClr val="E6E6E6"/>
              </a:solidFill>
              <a:latin typeface="Consolas"/>
              <a:ea typeface="游ゴシック"/>
            </a:endParaRP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# 以降、会話の中で使える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「論文 DB を開いて検索し、</a:t>
            </a:r>
          </a:p>
          <a:p>
            <a:pPr marL="0" indent="0">
              <a:spcBef>
                <a:spcPts val="150"/>
              </a:spcBef>
              <a:buNone/>
            </a:pPr>
            <a:r>
              <a:rPr kumimoji="1" lang="ja-JP" altLang="en-US" sz="1350" dirty="0">
                <a:solidFill>
                  <a:srgbClr val="E6E6E6"/>
                </a:solidFill>
                <a:latin typeface="Consolas"/>
                <a:ea typeface="游ゴシック"/>
              </a:rPr>
              <a:t>  上位 5 件を表にまとめて」</a:t>
            </a:r>
          </a:p>
        </p:txBody>
      </p:sp>
    </p:spTree>
    <p:extLst>
      <p:ext uri="{BB962C8B-B14F-4D97-AF65-F5344CB8AC3E}">
        <p14:creationId xmlns:p14="http://schemas.microsoft.com/office/powerpoint/2010/main" val="2269475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89E2C4-AEDB-3697-50C9-C9D78D99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§4 安全に使うために：研究室の 5 つのルール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0021ED-9754-1775-7BFD-FDCE5CD4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自律的に動く＝ファイルとシェルに直接触れる。便利さと同じだけの注意が要る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F000A3-98B3-7B49-6BD2-203A11EA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F53B0E-DFFD-506C-3AB5-06D8D72C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153F18-4FC2-76E5-CCD4-8905075E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22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42A381F-873E-DE60-AA0E-F995D6B2F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>
            <a:normAutofit fontScale="77500" lnSpcReduction="20000"/>
          </a:bodyPr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コスト：Pro は利用上限が早く来る。Subagent や並列実行は消費が大きい。/context と /compact でコンテキストを管理し、Skill を使うと繰り返しの説明コストが下がる。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508000" cy="6858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Shape 102"/>
          <p:cNvSpPr/>
          <p:nvPr/>
        </p:nvSpPr>
        <p:spPr>
          <a:xfrm>
            <a:off x="1041400" y="1346200"/>
            <a:ext cx="2540000" cy="685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権限を設定してから使う</a:t>
            </a:r>
          </a:p>
        </p:txBody>
      </p:sp>
      <p:sp>
        <p:nvSpPr>
          <p:cNvPr id="102" name="Shape 103"/>
          <p:cNvSpPr/>
          <p:nvPr/>
        </p:nvSpPr>
        <p:spPr>
          <a:xfrm>
            <a:off x="3657600" y="1346200"/>
            <a:ext cx="4826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250" dirty="0">
                <a:solidFill>
                  <a:srgbClr val="444444"/>
                </a:solidFill>
              </a:rPr>
              <a:t>allow：pytest・ruff・git status ／ ask：git commit・pip install ／ deny：rm -rf・git push --force・data/raw への書き込み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133600"/>
            <a:ext cx="508000" cy="6858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Shape 105"/>
          <p:cNvSpPr/>
          <p:nvPr/>
        </p:nvSpPr>
        <p:spPr>
          <a:xfrm>
            <a:off x="1041400" y="2133600"/>
            <a:ext cx="2540000" cy="685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 fontScale="92500"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差分は必ず読んで承認する</a:t>
            </a:r>
          </a:p>
        </p:txBody>
      </p:sp>
      <p:sp>
        <p:nvSpPr>
          <p:cNvPr id="105" name="Shape 106"/>
          <p:cNvSpPr/>
          <p:nvPr/>
        </p:nvSpPr>
        <p:spPr>
          <a:xfrm>
            <a:off x="3657600" y="2133600"/>
            <a:ext cx="4826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250" dirty="0">
                <a:solidFill>
                  <a:srgbClr val="444444"/>
                </a:solidFill>
              </a:rPr>
              <a:t>「全部 Yes」は禁止。特に解析ロジック（統計・前処理）の変更は自分で説明できるまで承認しない</a:t>
            </a:r>
          </a:p>
        </p:txBody>
      </p:sp>
      <p:sp>
        <p:nvSpPr>
          <p:cNvPr id="106" name="Shape 107"/>
          <p:cNvSpPr/>
          <p:nvPr/>
        </p:nvSpPr>
        <p:spPr>
          <a:xfrm>
            <a:off x="457200" y="2921000"/>
            <a:ext cx="508000" cy="6858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7" name="Shape 108"/>
          <p:cNvSpPr/>
          <p:nvPr/>
        </p:nvSpPr>
        <p:spPr>
          <a:xfrm>
            <a:off x="1041400" y="2921000"/>
            <a:ext cx="2540000" cy="685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秘匿データを渡さない</a:t>
            </a:r>
          </a:p>
        </p:txBody>
      </p:sp>
      <p:sp>
        <p:nvSpPr>
          <p:cNvPr id="108" name="Shape 109"/>
          <p:cNvSpPr/>
          <p:nvPr/>
        </p:nvSpPr>
        <p:spPr>
          <a:xfrm>
            <a:off x="3657600" y="2921000"/>
            <a:ext cx="4826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250" dirty="0">
                <a:solidFill>
                  <a:srgbClr val="444444"/>
                </a:solidFill>
              </a:rPr>
              <a:t>被験者データ・個人情報・API キー・未発表結果は .gitignore と deny で守る。権限スキップ起動オプションは使わない</a:t>
            </a:r>
          </a:p>
        </p:txBody>
      </p:sp>
      <p:sp>
        <p:nvSpPr>
          <p:cNvPr id="109" name="Shape 110"/>
          <p:cNvSpPr/>
          <p:nvPr/>
        </p:nvSpPr>
        <p:spPr>
          <a:xfrm>
            <a:off x="457200" y="3708400"/>
            <a:ext cx="508000" cy="6858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0" name="Shape 111"/>
          <p:cNvSpPr/>
          <p:nvPr/>
        </p:nvSpPr>
        <p:spPr>
          <a:xfrm>
            <a:off x="1041400" y="3708400"/>
            <a:ext cx="2540000" cy="685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Git の上で作業する</a:t>
            </a:r>
          </a:p>
        </p:txBody>
      </p:sp>
      <p:sp>
        <p:nvSpPr>
          <p:cNvPr id="111" name="Shape 112"/>
          <p:cNvSpPr/>
          <p:nvPr/>
        </p:nvSpPr>
        <p:spPr>
          <a:xfrm>
            <a:off x="3657600" y="3708400"/>
            <a:ext cx="4826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250" dirty="0">
                <a:solidFill>
                  <a:srgbClr val="444444"/>
                </a:solidFill>
              </a:rPr>
              <a:t>作業前にブランチを切る。何かあれば git checkout で戻せる状態を保つ。コミットは小さく</a:t>
            </a:r>
          </a:p>
        </p:txBody>
      </p:sp>
      <p:sp>
        <p:nvSpPr>
          <p:cNvPr id="112" name="Shape 113"/>
          <p:cNvSpPr/>
          <p:nvPr/>
        </p:nvSpPr>
        <p:spPr>
          <a:xfrm>
            <a:off x="457200" y="4495800"/>
            <a:ext cx="508000" cy="685800"/>
          </a:xfrm>
          <a:prstGeom prst="roundRect">
            <a:avLst>
              <a:gd name="adj" fmla="val 6000"/>
            </a:avLst>
          </a:prstGeom>
          <a:solidFill>
            <a:srgbClr val="1F3C88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3" name="Shape 114"/>
          <p:cNvSpPr/>
          <p:nvPr/>
        </p:nvSpPr>
        <p:spPr>
          <a:xfrm>
            <a:off x="1041400" y="4495800"/>
            <a:ext cx="2540000" cy="685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500" b="1" dirty="0">
                <a:solidFill>
                  <a:srgbClr val="1F3C88"/>
                </a:solidFill>
              </a:rPr>
              <a:t>理解したコードだけ使う</a:t>
            </a:r>
          </a:p>
        </p:txBody>
      </p:sp>
      <p:sp>
        <p:nvSpPr>
          <p:cNvPr id="114" name="Shape 115"/>
          <p:cNvSpPr/>
          <p:nvPr/>
        </p:nvSpPr>
        <p:spPr>
          <a:xfrm>
            <a:off x="3657600" y="4495800"/>
            <a:ext cx="4826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</p:spPr>
        <p:txBody>
          <a:bodyPr wrap="square" lIns="127000" tIns="127000" rIns="127000" bIns="12700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1250" dirty="0">
                <a:solidFill>
                  <a:srgbClr val="444444"/>
                </a:solidFill>
              </a:rPr>
              <a:t>「動いた」≠「正しい」。読んで説明できるコードだけを研究成果に使う。学生は指導教員に説明できること</a:t>
            </a:r>
          </a:p>
        </p:txBody>
      </p:sp>
      <p:sp>
        <p:nvSpPr>
          <p:cNvPr id="115" name="Shape 116"/>
          <p:cNvSpPr/>
          <p:nvPr/>
        </p:nvSpPr>
        <p:spPr>
          <a:xfrm>
            <a:off x="8686800" y="1346200"/>
            <a:ext cx="3048000" cy="414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txBody>
          <a:bodyPr wrap="square" lIns="152400" tIns="152400" rIns="152400" bIns="15240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# .claude/settings.json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{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"permissions": {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"allow": [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"Bash(pytest*)",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"Bash(ruff*)",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"Bash(git status*)",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"Bash(git diff*)"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],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"ask": [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"Bash(git commit*)",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"Bash(pip install*)",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"Bash(uv add*)",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"Bash(conda install*)"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],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"deny": [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"Bash(rm -rf*)",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"Bash(git push --force*)",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"Write(data/raw/**)",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  "Read(.env)"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  ]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  }</a:t>
            </a:r>
          </a:p>
          <a:p>
            <a:pPr marL="0" indent="0">
              <a:spcBef>
                <a:spcPts val="120"/>
              </a:spcBef>
              <a:buNone/>
            </a:pPr>
            <a:r>
              <a:rPr kumimoji="1" lang="ja-JP" altLang="en-US" sz="1150" dirty="0">
                <a:solidFill>
                  <a:srgbClr val="E6E6E6"/>
                </a:solidFill>
                <a:latin typeface="Consolas"/>
                <a:ea typeface="游ゴシック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553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F8E9B-F57A-4C04-8604-D4B0E427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400" b="1" dirty="0"/>
              <a:t>まとめ：研究室での運用ルールと次のステップ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10B573-1E51-48D5-E033-902ED573A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7400"/>
            <a:ext cx="11277600" cy="4572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000" b="1" dirty="0">
                <a:solidFill>
                  <a:srgbClr val="1F3C88"/>
                </a:solidFill>
              </a:rPr>
              <a:t>道具は「使い方を共有する仕組み」があって初めて研究室の資産になる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6BBEEF-FCCE-A272-594A-317F53C6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2026/9/24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65A75F-EBDD-2EB8-BD81-ABCAB684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生体情報システム研究室　セミナー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42278F-507B-87EE-63CD-3603E222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9ACF-DCE5-5E4C-B5F0-C49974921079}" type="slidenum">
              <a:rPr lang="ja-JP" altLang="en-US" smtClean="0"/>
              <a:pPr/>
              <a:t>23</a:t>
            </a:fld>
            <a:endParaRPr lang="ja-JP" altLang="en-US" sz="200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005EE30-707A-689E-37AB-535D6DC3AD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5664200"/>
            <a:ext cx="11277600" cy="355600"/>
          </a:xfrm>
        </p:spPr>
        <p:txBody>
          <a:bodyPr numCol="1" anchor="ctr"/>
          <a:lstStyle/>
          <a:p>
            <a:pPr marL="0" indent="0"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質問・相談はいつでも。うまくいった Skill やプロンプトは研究室 Slack の #claude-code チャンネルで共有してください。</a:t>
            </a:r>
          </a:p>
        </p:txBody>
      </p:sp>
      <p:sp>
        <p:nvSpPr>
          <p:cNvPr id="100" name="Shape 101"/>
          <p:cNvSpPr/>
          <p:nvPr/>
        </p:nvSpPr>
        <p:spPr>
          <a:xfrm>
            <a:off x="457200" y="1346200"/>
            <a:ext cx="3556000" cy="1524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ctr">
            <a:normAutofit fontScale="92500"/>
          </a:bodyPr>
          <a:lstStyle/>
          <a:p>
            <a:pPr marL="0" indent="0" algn="ctr">
              <a:buNone/>
            </a:pPr>
            <a:r>
              <a:rPr kumimoji="1" lang="ja-JP" altLang="en-US" sz="2800" b="1" dirty="0">
                <a:solidFill>
                  <a:srgbClr val="1F3C88"/>
                </a:solidFill>
              </a:rPr>
              <a:t>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kumimoji="1" lang="ja-JP" altLang="en-US" sz="1600" b="1" dirty="0"/>
              <a:t>タスク単位で任せ、承認で制御する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読む → 計画 → 実装 → 検証。プランモードと差分レビューが品質の要</a:t>
            </a:r>
          </a:p>
        </p:txBody>
      </p:sp>
      <p:sp>
        <p:nvSpPr>
          <p:cNvPr id="101" name="Shape 102"/>
          <p:cNvSpPr/>
          <p:nvPr/>
        </p:nvSpPr>
        <p:spPr>
          <a:xfrm>
            <a:off x="4318000" y="1346200"/>
            <a:ext cx="3556000" cy="1524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ctr">
            <a:normAutofit fontScale="92500"/>
          </a:bodyPr>
          <a:lstStyle/>
          <a:p>
            <a:pPr marL="0" indent="0" algn="ctr">
              <a:buNone/>
            </a:pPr>
            <a:r>
              <a:rPr kumimoji="1" lang="ja-JP" altLang="en-US" sz="2800" b="1" dirty="0">
                <a:solidFill>
                  <a:srgbClr val="1F3C88"/>
                </a:solidFill>
              </a:rPr>
              <a:t>2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kumimoji="1" lang="ja-JP" altLang="en-US" sz="1600" b="1" dirty="0"/>
              <a:t>知識はファイルに書いて共有する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CLAUDE.md（ルール）・Skills（手順）・Subagents（役割）を Git で研究室に配布</a:t>
            </a:r>
          </a:p>
        </p:txBody>
      </p:sp>
      <p:sp>
        <p:nvSpPr>
          <p:cNvPr id="102" name="Shape 103"/>
          <p:cNvSpPr/>
          <p:nvPr/>
        </p:nvSpPr>
        <p:spPr>
          <a:xfrm>
            <a:off x="8178800" y="1346200"/>
            <a:ext cx="3556000" cy="15240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52400" tIns="152400" rIns="152400" bIns="152400"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2800" b="1" dirty="0">
                <a:solidFill>
                  <a:srgbClr val="1F3C88"/>
                </a:solidFill>
              </a:rPr>
              <a:t>3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kumimoji="1" lang="ja-JP" altLang="en-US" sz="1600" b="1" dirty="0"/>
              <a:t>安全は設定で担保する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kumimoji="1" lang="ja-JP" altLang="en-US" sz="1400" dirty="0">
                <a:solidFill>
                  <a:srgbClr val="444444"/>
                </a:solidFill>
              </a:rPr>
              <a:t>権限の allow / ask / deny、データ保護、理解できないコードは使わない</a:t>
            </a:r>
          </a:p>
        </p:txBody>
      </p:sp>
      <p:sp>
        <p:nvSpPr>
          <p:cNvPr id="103" name="Shape 104"/>
          <p:cNvSpPr/>
          <p:nvPr/>
        </p:nvSpPr>
        <p:spPr>
          <a:xfrm>
            <a:off x="457200" y="2997200"/>
            <a:ext cx="5537200" cy="248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txBody>
          <a:bodyPr wrap="square" lIns="177800" tIns="177800" rIns="177800" bIns="177800" anchor="t">
            <a:normAutofit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2E8B57"/>
                </a:solidFill>
              </a:rPr>
              <a:t>研究室での運用（提案）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500" dirty="0"/>
              <a:t>共通リポジトリで .claude/ 一式を管理・配布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500" dirty="0"/>
              <a:t>Skill・Subagent の追加は PR で見える化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500" dirty="0"/>
              <a:t>月 1 回、CLAUDE.md と Skills を棚卸し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kumimoji="1" lang="ja-JP" altLang="en-US" sz="1500" dirty="0"/>
              <a:t>学生は生成コードをゼミで自分の言葉で説明</a:t>
            </a:r>
          </a:p>
        </p:txBody>
      </p:sp>
      <p:sp>
        <p:nvSpPr>
          <p:cNvPr id="104" name="Shape 105"/>
          <p:cNvSpPr/>
          <p:nvPr/>
        </p:nvSpPr>
        <p:spPr>
          <a:xfrm>
            <a:off x="6197600" y="2997200"/>
            <a:ext cx="5537200" cy="2489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txBody>
          <a:bodyPr wrap="square" lIns="177800" tIns="177800" rIns="177800" bIns="177800" anchor="t"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1800" b="1" dirty="0">
                <a:solidFill>
                  <a:srgbClr val="E8731A"/>
                </a:solidFill>
              </a:rPr>
              <a:t>次回までの課題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自分の研究プロジェクトで /init → CLAUDE.md を研究室版に書き直す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3 回以上繰り返している作業を 1 つ Skill 化して PR を出す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kumimoji="1" lang="ja-JP" altLang="en-US" sz="1500" dirty="0"/>
              <a:t>権限設定（settings.json）を自分の環境に合わせて作る</a:t>
            </a:r>
          </a:p>
          <a:p>
            <a:pPr marL="0" indent="0">
              <a:spcBef>
                <a:spcPts val="700"/>
              </a:spcBef>
              <a:buNone/>
            </a:pPr>
            <a:r>
              <a:rPr kumimoji="1" lang="ja-JP" altLang="en-US" sz="1300" dirty="0">
                <a:solidFill>
                  <a:srgbClr val="444444"/>
                </a:solidFill>
              </a:rPr>
              <a:t>参考：code.claude.com/docs（公式ドキュメント）／github.com/anthropics/skills（公開 Skills 集）</a:t>
            </a:r>
          </a:p>
        </p:txBody>
      </p:sp>
    </p:spTree>
    <p:extLst>
      <p:ext uri="{BB962C8B-B14F-4D97-AF65-F5344CB8AC3E}">
        <p14:creationId xmlns:p14="http://schemas.microsoft.com/office/powerpoint/2010/main" val="277831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67E851-310F-EB4F-941F-AF9375F9EB8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8900e33-7795-4f24-bcf5-912910716ec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6121</Words>
  <Application>Microsoft Macintosh PowerPoint</Application>
  <PresentationFormat>ワイド画面</PresentationFormat>
  <Paragraphs>652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游ゴシック</vt:lpstr>
      <vt:lpstr>游ゴシック Light</vt:lpstr>
      <vt:lpstr>Arial</vt:lpstr>
      <vt:lpstr>Calibri</vt:lpstr>
      <vt:lpstr>Consolas</vt:lpstr>
      <vt:lpstr>Wingdings</vt:lpstr>
      <vt:lpstr>Office テーマ</vt:lpstr>
      <vt:lpstr>How to Code with Claude Claude Code で始める研究プログラミングの基礎</vt:lpstr>
      <vt:lpstr>本日のゴール</vt:lpstr>
      <vt:lpstr>Claude Code とは</vt:lpstr>
      <vt:lpstr>研究室でなぜ Claude Code を使うか</vt:lpstr>
      <vt:lpstr>§1 セットアップ：Claude Code と Antigravity</vt:lpstr>
      <vt:lpstr>Claude Code と Antigravity の対応表（両方の参加者向け）</vt:lpstr>
      <vt:lpstr>Python 環境の準備：venv / uv / conda のどれでも OK</vt:lpstr>
      <vt:lpstr>ハンズオン ①：起動して /init する</vt:lpstr>
      <vt:lpstr>§2 基本操作：1 回のセッションはこう流れる</vt:lpstr>
      <vt:lpstr>覚えておくスラッシュコマンド</vt:lpstr>
      <vt:lpstr>コンテキストを管理する：/context と /compact</vt:lpstr>
      <vt:lpstr>良い指示の出し方（Python 解析コードの例）</vt:lpstr>
      <vt:lpstr>ハンズオン ②：解析スクリプトに機能追加してテストを通す</vt:lpstr>
      <vt:lpstr>§3 実践テクニック：CLAUDE.md ＝ プロジェクトの「取扱説明書」</vt:lpstr>
      <vt:lpstr>Skills とは：「手順を一度教えれば、毎回同じ品質で実行される」</vt:lpstr>
      <vt:lpstr>SKILL.md の書き方：frontmatter ＋ 手順本文</vt:lpstr>
      <vt:lpstr>研究室での Skills 活用例</vt:lpstr>
      <vt:lpstr>ハンズオン ③：Skill を作って使う（/plot-style）</vt:lpstr>
      <vt:lpstr>Subagents とは：専門担当を切り出して「別のコンテキスト」で働かせる</vt:lpstr>
      <vt:lpstr>ハンズオン ④：Subagent に「レビュー」と「テスト」を分担させる</vt:lpstr>
      <vt:lpstr>発展編：Hooks・ヘッドレス実行・MCP（概要のみ）</vt:lpstr>
      <vt:lpstr>§4 安全に使うために：研究室の 5 つのルール</vt:lpstr>
      <vt:lpstr>まとめ：研究室での運用ルールと次のステップ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小林　泰良</dc:creator>
  <cp:lastModifiedBy>小林　泰良</cp:lastModifiedBy>
  <cp:revision>19</cp:revision>
  <cp:lastPrinted>2026-09-23T18:16:39Z</cp:lastPrinted>
  <dcterms:created xsi:type="dcterms:W3CDTF">2024-02-20T03:45:23Z</dcterms:created>
  <dcterms:modified xsi:type="dcterms:W3CDTF">2026-09-23T19:46:39Z</dcterms:modified>
</cp:coreProperties>
</file>